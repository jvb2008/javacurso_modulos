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3" r:id="rId1"/>
  </p:sldMasterIdLst>
  <p:notesMasterIdLst>
    <p:notesMasterId r:id="rId16"/>
  </p:notesMasterIdLst>
  <p:sldIdLst>
    <p:sldId id="317" r:id="rId2"/>
    <p:sldId id="256" r:id="rId3"/>
    <p:sldId id="305" r:id="rId4"/>
    <p:sldId id="306" r:id="rId5"/>
    <p:sldId id="307" r:id="rId6"/>
    <p:sldId id="308" r:id="rId7"/>
    <p:sldId id="309" r:id="rId8"/>
    <p:sldId id="310" r:id="rId9"/>
    <p:sldId id="311" r:id="rId10"/>
    <p:sldId id="312" r:id="rId11"/>
    <p:sldId id="313" r:id="rId12"/>
    <p:sldId id="314" r:id="rId13"/>
    <p:sldId id="315" r:id="rId14"/>
    <p:sldId id="316" r:id="rId15"/>
  </p:sldIdLst>
  <p:sldSz cx="9144000" cy="5143500" type="screen16x9"/>
  <p:notesSz cx="6858000" cy="9144000"/>
  <p:embeddedFontLst>
    <p:embeddedFont>
      <p:font typeface="Fira Code" panose="020B0809050000020004" pitchFamily="49" charset="0"/>
      <p:regular r:id="rId17"/>
      <p:bold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78AD038-0CC6-4834-A986-352E8F01496E}">
  <a:tblStyle styleId="{478AD038-0CC6-4834-A986-352E8F01496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56259" autoAdjust="0"/>
  </p:normalViewPr>
  <p:slideViewPr>
    <p:cSldViewPr snapToGrid="0">
      <p:cViewPr varScale="1">
        <p:scale>
          <a:sx n="61" d="100"/>
          <a:sy n="61" d="100"/>
        </p:scale>
        <p:origin x="2074" y="48"/>
      </p:cViewPr>
      <p:guideLst/>
    </p:cSldViewPr>
  </p:slideViewPr>
  <p:outlineViewPr>
    <p:cViewPr>
      <p:scale>
        <a:sx n="33" d="100"/>
        <a:sy n="33" d="100"/>
      </p:scale>
      <p:origin x="0" y="-4829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e7b513348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e7b513348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846497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e7b513348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e7b513348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e7b513348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e7b513348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347187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e7b513348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e7b513348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709804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e7b513348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e7b513348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955289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e7b513348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e7b513348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27571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e7b513348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e7b513348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596011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e7b513348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e7b513348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771463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e7b513348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e7b513348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359558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e7b513348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e7b513348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8437734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e7b513348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e7b513348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53907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e7b513348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e7b513348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896642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e7b513348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e7b513348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endParaRPr u="sng" dirty="0"/>
          </a:p>
        </p:txBody>
      </p:sp>
    </p:spTree>
    <p:extLst>
      <p:ext uri="{BB962C8B-B14F-4D97-AF65-F5344CB8AC3E}">
        <p14:creationId xmlns:p14="http://schemas.microsoft.com/office/powerpoint/2010/main" val="268652926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e7b513348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e7b513348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ES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6007829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0" y="0"/>
            <a:ext cx="4572000" cy="5928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1413525" y="1119313"/>
            <a:ext cx="5682300" cy="5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3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1413525" y="3317438"/>
            <a:ext cx="3158400" cy="70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2"/>
          </p:nvPr>
        </p:nvSpPr>
        <p:spPr>
          <a:xfrm>
            <a:off x="1413525" y="1736863"/>
            <a:ext cx="5682300" cy="46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4" name="Google Shape;14;p2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" name="Google Shape;15;p2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6" name="Google Shape;16;p2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7" name="Google Shape;17;p2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8" name="Google Shape;18;p2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9" name="Google Shape;19;p2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" name="Google Shape;20;p2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1" name="Google Shape;21;p2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" name="Google Shape;22;p2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3" name="Google Shape;23;p2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4" name="Google Shape;24;p2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5" name="Google Shape;25;p2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6" name="Google Shape;26;p2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7" name="Google Shape;27;p2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8" name="Google Shape;28;p2"/>
          <p:cNvSpPr/>
          <p:nvPr/>
        </p:nvSpPr>
        <p:spPr>
          <a:xfrm>
            <a:off x="4572000" y="4550700"/>
            <a:ext cx="4572000" cy="5928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2"/>
          <p:cNvSpPr txBox="1">
            <a:spLocks noGrp="1"/>
          </p:cNvSpPr>
          <p:nvPr>
            <p:ph type="subTitle" idx="3"/>
          </p:nvPr>
        </p:nvSpPr>
        <p:spPr>
          <a:xfrm>
            <a:off x="1413525" y="2325113"/>
            <a:ext cx="5682300" cy="46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5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5"/>
          <p:cNvSpPr/>
          <p:nvPr/>
        </p:nvSpPr>
        <p:spPr>
          <a:xfrm>
            <a:off x="4572000" y="0"/>
            <a:ext cx="4572000" cy="59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5"/>
          <p:cNvSpPr txBox="1">
            <a:spLocks noGrp="1"/>
          </p:cNvSpPr>
          <p:nvPr>
            <p:ph type="subTitle" idx="1"/>
          </p:nvPr>
        </p:nvSpPr>
        <p:spPr>
          <a:xfrm>
            <a:off x="2240150" y="3143327"/>
            <a:ext cx="5137500" cy="7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75" name="Google Shape;75;p5"/>
          <p:cNvSpPr txBox="1">
            <a:spLocks noGrp="1"/>
          </p:cNvSpPr>
          <p:nvPr>
            <p:ph type="subTitle" idx="2"/>
          </p:nvPr>
        </p:nvSpPr>
        <p:spPr>
          <a:xfrm>
            <a:off x="2240150" y="1151940"/>
            <a:ext cx="5137500" cy="7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76" name="Google Shape;76;p5"/>
          <p:cNvSpPr txBox="1">
            <a:spLocks noGrp="1"/>
          </p:cNvSpPr>
          <p:nvPr>
            <p:ph type="subTitle" idx="3"/>
          </p:nvPr>
        </p:nvSpPr>
        <p:spPr>
          <a:xfrm>
            <a:off x="1143250" y="2612625"/>
            <a:ext cx="4057200" cy="53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7" name="Google Shape;77;p5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78" name="Google Shape;78;p5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79" name="Google Shape;79;p5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80" name="Google Shape;80;p5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81" name="Google Shape;81;p5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82" name="Google Shape;82;p5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83" name="Google Shape;83;p5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84" name="Google Shape;84;p5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85" name="Google Shape;85;p5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86" name="Google Shape;86;p5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87" name="Google Shape;87;p5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88" name="Google Shape;88;p5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89" name="Google Shape;89;p5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90" name="Google Shape;90;p5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91" name="Google Shape;91;p5"/>
          <p:cNvSpPr txBox="1">
            <a:spLocks noGrp="1"/>
          </p:cNvSpPr>
          <p:nvPr>
            <p:ph type="title"/>
          </p:nvPr>
        </p:nvSpPr>
        <p:spPr>
          <a:xfrm>
            <a:off x="1143250" y="621240"/>
            <a:ext cx="4057200" cy="53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7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7"/>
          <p:cNvSpPr/>
          <p:nvPr/>
        </p:nvSpPr>
        <p:spPr>
          <a:xfrm>
            <a:off x="4572000" y="0"/>
            <a:ext cx="4572000" cy="59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7"/>
          <p:cNvSpPr txBox="1">
            <a:spLocks noGrp="1"/>
          </p:cNvSpPr>
          <p:nvPr>
            <p:ph type="subTitle" idx="1"/>
          </p:nvPr>
        </p:nvSpPr>
        <p:spPr>
          <a:xfrm>
            <a:off x="1674500" y="2736550"/>
            <a:ext cx="3627600" cy="101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6" name="Google Shape;116;p7"/>
          <p:cNvSpPr txBox="1">
            <a:spLocks noGrp="1"/>
          </p:cNvSpPr>
          <p:nvPr>
            <p:ph type="title"/>
          </p:nvPr>
        </p:nvSpPr>
        <p:spPr>
          <a:xfrm>
            <a:off x="1154275" y="1137700"/>
            <a:ext cx="3969900" cy="142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7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18" name="Google Shape;118;p7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19" name="Google Shape;119;p7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20" name="Google Shape;120;p7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21" name="Google Shape;121;p7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22" name="Google Shape;122;p7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23" name="Google Shape;123;p7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24" name="Google Shape;124;p7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25" name="Google Shape;125;p7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26" name="Google Shape;126;p7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27" name="Google Shape;127;p7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28" name="Google Shape;128;p7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29" name="Google Shape;129;p7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30" name="Google Shape;130;p7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8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8"/>
          <p:cNvSpPr/>
          <p:nvPr/>
        </p:nvSpPr>
        <p:spPr>
          <a:xfrm>
            <a:off x="0" y="0"/>
            <a:ext cx="4572000" cy="59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8"/>
          <p:cNvSpPr txBox="1">
            <a:spLocks noGrp="1"/>
          </p:cNvSpPr>
          <p:nvPr>
            <p:ph type="title"/>
          </p:nvPr>
        </p:nvSpPr>
        <p:spPr>
          <a:xfrm>
            <a:off x="2673350" y="1194150"/>
            <a:ext cx="4281300" cy="162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35" name="Google Shape;135;p8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36" name="Google Shape;136;p8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37" name="Google Shape;137;p8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38" name="Google Shape;138;p8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39" name="Google Shape;139;p8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40" name="Google Shape;140;p8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41" name="Google Shape;141;p8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42" name="Google Shape;142;p8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43" name="Google Shape;143;p8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44" name="Google Shape;144;p8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45" name="Google Shape;145;p8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46" name="Google Shape;146;p8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47" name="Google Shape;147;p8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48" name="Google Shape;148;p8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9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9"/>
          <p:cNvSpPr/>
          <p:nvPr/>
        </p:nvSpPr>
        <p:spPr>
          <a:xfrm>
            <a:off x="0" y="0"/>
            <a:ext cx="4572000" cy="59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9"/>
          <p:cNvSpPr txBox="1">
            <a:spLocks noGrp="1"/>
          </p:cNvSpPr>
          <p:nvPr>
            <p:ph type="title"/>
          </p:nvPr>
        </p:nvSpPr>
        <p:spPr>
          <a:xfrm>
            <a:off x="1131500" y="621250"/>
            <a:ext cx="4045200" cy="53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53" name="Google Shape;153;p9"/>
          <p:cNvSpPr txBox="1">
            <a:spLocks noGrp="1"/>
          </p:cNvSpPr>
          <p:nvPr>
            <p:ph type="subTitle" idx="1"/>
          </p:nvPr>
        </p:nvSpPr>
        <p:spPr>
          <a:xfrm>
            <a:off x="1593350" y="1574450"/>
            <a:ext cx="5539200" cy="140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54" name="Google Shape;154;p9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5" name="Google Shape;155;p9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6" name="Google Shape;156;p9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7" name="Google Shape;157;p9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8" name="Google Shape;158;p9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9" name="Google Shape;159;p9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60" name="Google Shape;160;p9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61" name="Google Shape;161;p9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62" name="Google Shape;162;p9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63" name="Google Shape;163;p9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64" name="Google Shape;164;p9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65" name="Google Shape;165;p9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66" name="Google Shape;166;p9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67" name="Google Shape;167;p9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0"/>
          <p:cNvSpPr txBox="1">
            <a:spLocks noGrp="1"/>
          </p:cNvSpPr>
          <p:nvPr>
            <p:ph type="title"/>
          </p:nvPr>
        </p:nvSpPr>
        <p:spPr>
          <a:xfrm>
            <a:off x="710125" y="542575"/>
            <a:ext cx="3861900" cy="142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1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11"/>
          <p:cNvSpPr/>
          <p:nvPr/>
        </p:nvSpPr>
        <p:spPr>
          <a:xfrm>
            <a:off x="0" y="0"/>
            <a:ext cx="4572000" cy="59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11"/>
          <p:cNvSpPr txBox="1">
            <a:spLocks noGrp="1"/>
          </p:cNvSpPr>
          <p:nvPr>
            <p:ph type="title" hasCustomPrompt="1"/>
          </p:nvPr>
        </p:nvSpPr>
        <p:spPr>
          <a:xfrm>
            <a:off x="1084225" y="1311425"/>
            <a:ext cx="6379200" cy="101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74" name="Google Shape;174;p11"/>
          <p:cNvSpPr txBox="1">
            <a:spLocks noGrp="1"/>
          </p:cNvSpPr>
          <p:nvPr>
            <p:ph type="body" idx="1"/>
          </p:nvPr>
        </p:nvSpPr>
        <p:spPr>
          <a:xfrm>
            <a:off x="1554225" y="2486925"/>
            <a:ext cx="6689100" cy="52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>
                <a:solidFill>
                  <a:schemeClr val="accent3"/>
                </a:solidFill>
              </a:defRPr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75" name="Google Shape;175;p11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76" name="Google Shape;176;p11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77" name="Google Shape;177;p11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78" name="Google Shape;178;p11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79" name="Google Shape;179;p11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80" name="Google Shape;180;p11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81" name="Google Shape;181;p11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82" name="Google Shape;182;p11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83" name="Google Shape;183;p11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84" name="Google Shape;184;p11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85" name="Google Shape;185;p11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86" name="Google Shape;186;p11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87" name="Google Shape;187;p11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88" name="Google Shape;188;p11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6"/>
        </a:solidFill>
        <a:effectLst/>
      </p:bgPr>
    </p:bg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">
  <p:cSld name="CUSTOM_9"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4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14"/>
          <p:cNvSpPr/>
          <p:nvPr/>
        </p:nvSpPr>
        <p:spPr>
          <a:xfrm>
            <a:off x="457200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14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14" name="Google Shape;214;p14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15" name="Google Shape;215;p14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16" name="Google Shape;216;p14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17" name="Google Shape;217;p14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18" name="Google Shape;218;p14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19" name="Google Shape;219;p14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0" name="Google Shape;220;p14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1" name="Google Shape;221;p14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2" name="Google Shape;222;p14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3" name="Google Shape;223;p14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4" name="Google Shape;224;p14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5" name="Google Shape;225;p14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6" name="Google Shape;226;p14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 1">
  <p:cSld name="CUSTOM_9_2"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5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15"/>
          <p:cNvSpPr/>
          <p:nvPr/>
        </p:nvSpPr>
        <p:spPr>
          <a:xfrm>
            <a:off x="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15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31" name="Google Shape;231;p15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32" name="Google Shape;232;p15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33" name="Google Shape;233;p15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34" name="Google Shape;234;p15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35" name="Google Shape;235;p15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36" name="Google Shape;236;p15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37" name="Google Shape;237;p15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38" name="Google Shape;238;p15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39" name="Google Shape;239;p15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40" name="Google Shape;240;p15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41" name="Google Shape;241;p15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42" name="Google Shape;242;p15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43" name="Google Shape;243;p15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5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ra Code"/>
              <a:buNone/>
              <a:defRPr sz="2800">
                <a:solidFill>
                  <a:schemeClr val="lt1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60" r:id="rId9"/>
    <p:sldLayoutId id="2147483661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54;p18">
            <a:extLst>
              <a:ext uri="{FF2B5EF4-FFF2-40B4-BE49-F238E27FC236}">
                <a16:creationId xmlns:a16="http://schemas.microsoft.com/office/drawing/2014/main" id="{BD11792E-DB1B-6B29-E401-4A576AC3E3BC}"/>
              </a:ext>
            </a:extLst>
          </p:cNvPr>
          <p:cNvSpPr txBox="1">
            <a:spLocks/>
          </p:cNvSpPr>
          <p:nvPr/>
        </p:nvSpPr>
        <p:spPr>
          <a:xfrm>
            <a:off x="127094" y="4679064"/>
            <a:ext cx="5285293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18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/>
            <a:r>
              <a:rPr lang="es-ES" sz="1400">
                <a:solidFill>
                  <a:schemeClr val="accent1"/>
                </a:solidFill>
              </a:rPr>
              <a:t>Introducción a la programación en java</a:t>
            </a:r>
            <a:endParaRPr lang="es-ES" sz="1400" dirty="0">
              <a:solidFill>
                <a:schemeClr val="accent1"/>
              </a:solidFill>
            </a:endParaRPr>
          </a:p>
        </p:txBody>
      </p:sp>
      <p:pic>
        <p:nvPicPr>
          <p:cNvPr id="1026" name="Picture 2" descr="Technology Code GIF by The Coding Space RD">
            <a:extLst>
              <a:ext uri="{FF2B5EF4-FFF2-40B4-BE49-F238E27FC236}">
                <a16:creationId xmlns:a16="http://schemas.microsoft.com/office/drawing/2014/main" id="{684DF84A-72D3-DC15-CC8D-65294DF118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8784" y="864948"/>
            <a:ext cx="3413603" cy="34136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Google Shape;252;p18">
            <a:extLst>
              <a:ext uri="{FF2B5EF4-FFF2-40B4-BE49-F238E27FC236}">
                <a16:creationId xmlns:a16="http://schemas.microsoft.com/office/drawing/2014/main" id="{7B990F70-D7D8-215E-515D-C983149AB3FD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5771452" y="1580445"/>
            <a:ext cx="3135481" cy="168204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1">
                    <a:lumMod val="75000"/>
                  </a:schemeClr>
                </a:solidFill>
              </a:rPr>
              <a:t>STRINGS</a:t>
            </a:r>
            <a:endParaRPr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2844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8"/>
          <p:cNvSpPr txBox="1">
            <a:spLocks noGrp="1"/>
          </p:cNvSpPr>
          <p:nvPr>
            <p:ph type="ctrTitle"/>
          </p:nvPr>
        </p:nvSpPr>
        <p:spPr>
          <a:xfrm>
            <a:off x="1368920" y="830650"/>
            <a:ext cx="5682300" cy="5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</a:rPr>
              <a:t>¿Qué aprenderemos? </a:t>
            </a:r>
            <a:r>
              <a:rPr lang="en" dirty="0">
                <a:solidFill>
                  <a:schemeClr val="accent3"/>
                </a:solidFill>
              </a:rPr>
              <a:t>{</a:t>
            </a:r>
            <a:endParaRPr dirty="0">
              <a:solidFill>
                <a:schemeClr val="accent3"/>
              </a:solidFill>
            </a:endParaRPr>
          </a:p>
        </p:txBody>
      </p:sp>
      <p:sp>
        <p:nvSpPr>
          <p:cNvPr id="253" name="Google Shape;253;p18"/>
          <p:cNvSpPr txBox="1">
            <a:spLocks noGrp="1"/>
          </p:cNvSpPr>
          <p:nvPr>
            <p:ph type="subTitle" idx="1"/>
          </p:nvPr>
        </p:nvSpPr>
        <p:spPr>
          <a:xfrm>
            <a:off x="1834328" y="1420109"/>
            <a:ext cx="4964775" cy="309312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sz="1600" dirty="0">
                <a:sym typeface="Arial"/>
              </a:rPr>
              <a:t>Concatenación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sz="1600" dirty="0" err="1">
                <a:sym typeface="Arial"/>
              </a:rPr>
              <a:t>Length</a:t>
            </a:r>
            <a:endParaRPr lang="es-ES" sz="1600" dirty="0">
              <a:sym typeface="Arial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sz="1600" dirty="0" err="1">
                <a:sym typeface="Arial"/>
              </a:rPr>
              <a:t>charAt</a:t>
            </a:r>
            <a:endParaRPr lang="es-ES" sz="1600" dirty="0">
              <a:sym typeface="Arial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sz="1600" dirty="0" err="1">
                <a:sym typeface="Arial"/>
              </a:rPr>
              <a:t>substring</a:t>
            </a:r>
            <a:endParaRPr lang="es-ES" sz="1600" dirty="0">
              <a:sym typeface="Arial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sz="1600" dirty="0" err="1">
                <a:sym typeface="Arial"/>
              </a:rPr>
              <a:t>ToUpperCase</a:t>
            </a:r>
            <a:r>
              <a:rPr lang="es-ES" sz="1600" dirty="0">
                <a:sym typeface="Arial"/>
              </a:rPr>
              <a:t> / </a:t>
            </a:r>
            <a:r>
              <a:rPr lang="es-ES" sz="1600" dirty="0" err="1">
                <a:sym typeface="Arial"/>
              </a:rPr>
              <a:t>toLowerCase</a:t>
            </a:r>
            <a:endParaRPr lang="es-ES" sz="1600" dirty="0">
              <a:sym typeface="Arial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sz="1600" dirty="0" err="1">
                <a:sym typeface="Arial"/>
              </a:rPr>
              <a:t>Contains</a:t>
            </a:r>
            <a:r>
              <a:rPr lang="es-ES" sz="1600" dirty="0">
                <a:sym typeface="Arial"/>
              </a:rPr>
              <a:t> e </a:t>
            </a:r>
            <a:r>
              <a:rPr lang="es-ES" sz="1600" dirty="0" err="1">
                <a:sym typeface="Arial"/>
              </a:rPr>
              <a:t>equals</a:t>
            </a:r>
            <a:endParaRPr lang="es-ES" sz="1600" dirty="0">
              <a:sym typeface="Arial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sz="1600" dirty="0" err="1">
                <a:sym typeface="Arial"/>
              </a:rPr>
              <a:t>trim</a:t>
            </a:r>
            <a:r>
              <a:rPr lang="es-ES" sz="1600" dirty="0">
                <a:sym typeface="Arial"/>
              </a:rPr>
              <a:t> / </a:t>
            </a:r>
            <a:r>
              <a:rPr lang="es-ES" sz="1600" dirty="0" err="1">
                <a:sym typeface="Arial"/>
              </a:rPr>
              <a:t>replace</a:t>
            </a:r>
            <a:r>
              <a:rPr lang="es-ES" sz="1600" dirty="0">
                <a:sym typeface="Arial"/>
              </a:rPr>
              <a:t> 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sz="1600" dirty="0" err="1">
                <a:sym typeface="Arial"/>
              </a:rPr>
              <a:t>Format</a:t>
            </a:r>
            <a:r>
              <a:rPr lang="es-ES" sz="1600" dirty="0">
                <a:sym typeface="Arial"/>
              </a:rPr>
              <a:t> </a:t>
            </a:r>
          </a:p>
        </p:txBody>
      </p:sp>
      <p:sp>
        <p:nvSpPr>
          <p:cNvPr id="254" name="Google Shape;254;p18"/>
          <p:cNvSpPr txBox="1">
            <a:spLocks noGrp="1"/>
          </p:cNvSpPr>
          <p:nvPr>
            <p:ph type="subTitle" idx="1"/>
          </p:nvPr>
        </p:nvSpPr>
        <p:spPr>
          <a:xfrm>
            <a:off x="289932" y="4694725"/>
            <a:ext cx="5285293" cy="35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1"/>
                </a:solidFill>
              </a:rPr>
              <a:t>Introducción a la programación en java</a:t>
            </a:r>
            <a:endParaRPr sz="1400" dirty="0">
              <a:solidFill>
                <a:schemeClr val="accent1"/>
              </a:solidFill>
            </a:endParaRPr>
          </a:p>
        </p:txBody>
      </p:sp>
      <p:sp>
        <p:nvSpPr>
          <p:cNvPr id="256" name="Google Shape;256;p18"/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/>
              <a:t>Módulo3</a:t>
            </a:r>
            <a:r>
              <a:rPr lang="en" sz="1400" dirty="0">
                <a:solidFill>
                  <a:schemeClr val="accent3"/>
                </a:solidFill>
              </a:rPr>
              <a:t>.java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257" name="Google Shape;257;p18"/>
          <p:cNvSpPr txBox="1">
            <a:spLocks noGrp="1"/>
          </p:cNvSpPr>
          <p:nvPr>
            <p:ph type="subTitle" idx="1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Strings.css</a:t>
            </a:r>
            <a:endParaRPr sz="1400" dirty="0">
              <a:solidFill>
                <a:schemeClr val="accent3"/>
              </a:solidFill>
            </a:endParaRPr>
          </a:p>
        </p:txBody>
      </p:sp>
      <p:grpSp>
        <p:nvGrpSpPr>
          <p:cNvPr id="260" name="Google Shape;260;p18"/>
          <p:cNvGrpSpPr/>
          <p:nvPr/>
        </p:nvGrpSpPr>
        <p:grpSpPr>
          <a:xfrm>
            <a:off x="6491447" y="1520840"/>
            <a:ext cx="506100" cy="2956675"/>
            <a:chOff x="1413525" y="1247575"/>
            <a:chExt cx="506100" cy="2956675"/>
          </a:xfrm>
        </p:grpSpPr>
        <p:cxnSp>
          <p:nvCxnSpPr>
            <p:cNvPr id="261" name="Google Shape;261;p18"/>
            <p:cNvCxnSpPr/>
            <p:nvPr/>
          </p:nvCxnSpPr>
          <p:spPr>
            <a:xfrm>
              <a:off x="1552213" y="1247575"/>
              <a:ext cx="0" cy="22758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62" name="Google Shape;262;p18"/>
            <p:cNvSpPr txBox="1"/>
            <p:nvPr/>
          </p:nvSpPr>
          <p:spPr>
            <a:xfrm>
              <a:off x="1413525" y="3557750"/>
              <a:ext cx="5061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 dirty="0">
                  <a:solidFill>
                    <a:schemeClr val="accent3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3000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</p:grpSp>
      <p:pic>
        <p:nvPicPr>
          <p:cNvPr id="1032" name="Picture 8">
            <a:extLst>
              <a:ext uri="{FF2B5EF4-FFF2-40B4-BE49-F238E27FC236}">
                <a16:creationId xmlns:a16="http://schemas.microsoft.com/office/drawing/2014/main" id="{B64FF7F1-DC52-2559-C5DF-66F670DE37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5298" y="2388015"/>
            <a:ext cx="1766571" cy="19248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8"/>
          <p:cNvSpPr txBox="1">
            <a:spLocks noGrp="1"/>
          </p:cNvSpPr>
          <p:nvPr>
            <p:ph type="ctrTitle"/>
          </p:nvPr>
        </p:nvSpPr>
        <p:spPr>
          <a:xfrm>
            <a:off x="1368920" y="830650"/>
            <a:ext cx="5682300" cy="5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</a:rPr>
              <a:t>Clase String </a:t>
            </a:r>
            <a:r>
              <a:rPr lang="en" dirty="0">
                <a:solidFill>
                  <a:schemeClr val="accent3"/>
                </a:solidFill>
              </a:rPr>
              <a:t>{</a:t>
            </a:r>
            <a:endParaRPr dirty="0">
              <a:solidFill>
                <a:schemeClr val="accent3"/>
              </a:solidFill>
            </a:endParaRPr>
          </a:p>
        </p:txBody>
      </p:sp>
      <p:sp>
        <p:nvSpPr>
          <p:cNvPr id="254" name="Google Shape;254;p18"/>
          <p:cNvSpPr txBox="1">
            <a:spLocks noGrp="1"/>
          </p:cNvSpPr>
          <p:nvPr>
            <p:ph type="subTitle" idx="1"/>
          </p:nvPr>
        </p:nvSpPr>
        <p:spPr>
          <a:xfrm>
            <a:off x="289932" y="4694725"/>
            <a:ext cx="5285293" cy="35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1"/>
                </a:solidFill>
              </a:rPr>
              <a:t>Introducción a la programación en java</a:t>
            </a:r>
            <a:endParaRPr sz="1400" dirty="0">
              <a:solidFill>
                <a:schemeClr val="accent1"/>
              </a:solidFill>
            </a:endParaRPr>
          </a:p>
        </p:txBody>
      </p:sp>
      <p:sp>
        <p:nvSpPr>
          <p:cNvPr id="256" name="Google Shape;256;p18"/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/>
              <a:t>Módulo3</a:t>
            </a:r>
            <a:r>
              <a:rPr lang="en" sz="1400" dirty="0">
                <a:solidFill>
                  <a:schemeClr val="accent3"/>
                </a:solidFill>
              </a:rPr>
              <a:t>.java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257" name="Google Shape;257;p18"/>
          <p:cNvSpPr txBox="1">
            <a:spLocks noGrp="1"/>
          </p:cNvSpPr>
          <p:nvPr>
            <p:ph type="subTitle" idx="1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Strings.css</a:t>
            </a:r>
            <a:endParaRPr sz="1400" dirty="0">
              <a:solidFill>
                <a:schemeClr val="accent3"/>
              </a:solidFill>
            </a:endParaRPr>
          </a:p>
        </p:txBody>
      </p:sp>
      <p:grpSp>
        <p:nvGrpSpPr>
          <p:cNvPr id="260" name="Google Shape;260;p18"/>
          <p:cNvGrpSpPr/>
          <p:nvPr/>
        </p:nvGrpSpPr>
        <p:grpSpPr>
          <a:xfrm>
            <a:off x="7994570" y="1558419"/>
            <a:ext cx="506100" cy="2956675"/>
            <a:chOff x="1413525" y="1247575"/>
            <a:chExt cx="506100" cy="2956675"/>
          </a:xfrm>
        </p:grpSpPr>
        <p:cxnSp>
          <p:nvCxnSpPr>
            <p:cNvPr id="261" name="Google Shape;261;p18"/>
            <p:cNvCxnSpPr/>
            <p:nvPr/>
          </p:nvCxnSpPr>
          <p:spPr>
            <a:xfrm>
              <a:off x="1552213" y="1247575"/>
              <a:ext cx="0" cy="22758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62" name="Google Shape;262;p18"/>
            <p:cNvSpPr txBox="1"/>
            <p:nvPr/>
          </p:nvSpPr>
          <p:spPr>
            <a:xfrm>
              <a:off x="1413525" y="3557750"/>
              <a:ext cx="5061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 dirty="0">
                  <a:solidFill>
                    <a:schemeClr val="accent3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3000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</p:grpSp>
      <p:sp>
        <p:nvSpPr>
          <p:cNvPr id="4" name="Rectangle 5">
            <a:extLst>
              <a:ext uri="{FF2B5EF4-FFF2-40B4-BE49-F238E27FC236}">
                <a16:creationId xmlns:a16="http://schemas.microsoft.com/office/drawing/2014/main" id="{B7AFB952-9BCE-5E5F-DD47-089A2BC668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6411" y="1586635"/>
            <a:ext cx="6528159" cy="21912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defTabSz="914400" eaLnBrk="0" fontAlgn="base" latinLnBrk="0" hangingPunct="0">
              <a:lnSpc>
                <a:spcPct val="115000"/>
              </a:lnSpc>
              <a:spcAft>
                <a:spcPts val="800"/>
              </a:spcAft>
              <a:buClr>
                <a:schemeClr val="dk2"/>
              </a:buClr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altLang="es-ES" sz="1600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rPr>
              <a:t>Un </a:t>
            </a:r>
            <a:r>
              <a:rPr lang="es-ES" altLang="es-ES" sz="1600" dirty="0" err="1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rPr>
              <a:t>String</a:t>
            </a:r>
            <a:r>
              <a:rPr lang="es-ES" altLang="es-ES" sz="1600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-ES" altLang="es-ES" sz="1600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Wingdings" panose="05000000000000000000" pitchFamily="2" charset="2"/>
              </a:rPr>
              <a:t> </a:t>
            </a:r>
            <a:r>
              <a:rPr lang="es-ES" altLang="es-ES" sz="1600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rPr>
              <a:t>secuencia de caracteres entre comillas dobles.</a:t>
            </a:r>
          </a:p>
          <a:p>
            <a:pPr marL="342900" indent="-342900" defTabSz="914400" eaLnBrk="0" fontAlgn="base" latinLnBrk="0" hangingPunct="0">
              <a:lnSpc>
                <a:spcPct val="115000"/>
              </a:lnSpc>
              <a:spcAft>
                <a:spcPts val="800"/>
              </a:spcAft>
              <a:buClr>
                <a:schemeClr val="dk2"/>
              </a:buClr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altLang="es-ES" sz="1600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rPr>
              <a:t>No es un tipo primitivo</a:t>
            </a:r>
          </a:p>
          <a:p>
            <a:pPr marL="342900" indent="-342900" defTabSz="914400" eaLnBrk="0" fontAlgn="base" latinLnBrk="0" hangingPunct="0">
              <a:lnSpc>
                <a:spcPct val="115000"/>
              </a:lnSpc>
              <a:spcAft>
                <a:spcPts val="800"/>
              </a:spcAft>
              <a:buClr>
                <a:schemeClr val="dk2"/>
              </a:buClr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altLang="es-ES" sz="1600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rPr>
              <a:t>La clase </a:t>
            </a:r>
            <a:r>
              <a:rPr lang="es-ES" altLang="es-ES" sz="1600" dirty="0" err="1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rPr>
              <a:t>String</a:t>
            </a:r>
            <a:r>
              <a:rPr lang="es-ES" altLang="es-ES" sz="1600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rPr>
              <a:t> pertenece al paquete </a:t>
            </a:r>
            <a:r>
              <a:rPr lang="es-ES" altLang="es-ES" sz="1600" dirty="0" err="1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rPr>
              <a:t>java.lang</a:t>
            </a:r>
            <a:r>
              <a:rPr lang="es-ES" altLang="es-ES" sz="1600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rPr>
              <a:t>.</a:t>
            </a:r>
          </a:p>
          <a:p>
            <a:pPr marL="342900" indent="-342900" defTabSz="914400" eaLnBrk="0" fontAlgn="base" latinLnBrk="0" hangingPunct="0">
              <a:lnSpc>
                <a:spcPct val="115000"/>
              </a:lnSpc>
              <a:spcAft>
                <a:spcPts val="800"/>
              </a:spcAft>
              <a:buClr>
                <a:schemeClr val="dk2"/>
              </a:buClr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altLang="es-ES" sz="1600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rPr>
              <a:t>Ejemplo:</a:t>
            </a:r>
          </a:p>
          <a:p>
            <a:pPr marL="342900" indent="-342900" defTabSz="914400" eaLnBrk="0" fontAlgn="base" latinLnBrk="0" hangingPunct="0">
              <a:lnSpc>
                <a:spcPct val="115000"/>
              </a:lnSpc>
              <a:spcAft>
                <a:spcPts val="800"/>
              </a:spcAft>
              <a:buClr>
                <a:schemeClr val="dk2"/>
              </a:buClr>
              <a:buSzPts val="1000"/>
              <a:buFont typeface="Courier New" panose="02070309020205020404" pitchFamily="49" charset="0"/>
              <a:buChar char="o"/>
              <a:tabLst>
                <a:tab pos="457200" algn="l"/>
              </a:tabLst>
            </a:pPr>
            <a:r>
              <a:rPr lang="es-ES" altLang="es-ES" sz="1600" dirty="0" err="1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rPr>
              <a:t>String</a:t>
            </a:r>
            <a:r>
              <a:rPr lang="es-ES" altLang="es-ES" sz="1600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rPr>
              <a:t> saludo = "Hola Mundo";</a:t>
            </a:r>
          </a:p>
        </p:txBody>
      </p:sp>
    </p:spTree>
    <p:extLst>
      <p:ext uri="{BB962C8B-B14F-4D97-AF65-F5344CB8AC3E}">
        <p14:creationId xmlns:p14="http://schemas.microsoft.com/office/powerpoint/2010/main" val="33056980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8"/>
          <p:cNvSpPr txBox="1">
            <a:spLocks noGrp="1"/>
          </p:cNvSpPr>
          <p:nvPr>
            <p:ph type="ctrTitle"/>
          </p:nvPr>
        </p:nvSpPr>
        <p:spPr>
          <a:xfrm>
            <a:off x="1368920" y="830650"/>
            <a:ext cx="5682300" cy="5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</a:rPr>
              <a:t>Concatenación </a:t>
            </a:r>
            <a:r>
              <a:rPr lang="en" dirty="0">
                <a:solidFill>
                  <a:schemeClr val="accent3"/>
                </a:solidFill>
              </a:rPr>
              <a:t>{</a:t>
            </a:r>
            <a:endParaRPr dirty="0">
              <a:solidFill>
                <a:schemeClr val="accent3"/>
              </a:solidFill>
            </a:endParaRPr>
          </a:p>
        </p:txBody>
      </p:sp>
      <p:sp>
        <p:nvSpPr>
          <p:cNvPr id="254" name="Google Shape;254;p18"/>
          <p:cNvSpPr txBox="1">
            <a:spLocks noGrp="1"/>
          </p:cNvSpPr>
          <p:nvPr>
            <p:ph type="subTitle" idx="1"/>
          </p:nvPr>
        </p:nvSpPr>
        <p:spPr>
          <a:xfrm>
            <a:off x="289932" y="4694725"/>
            <a:ext cx="5285293" cy="35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1"/>
                </a:solidFill>
              </a:rPr>
              <a:t>Introducción a la programación en java</a:t>
            </a:r>
            <a:endParaRPr sz="1400" dirty="0">
              <a:solidFill>
                <a:schemeClr val="accent1"/>
              </a:solidFill>
            </a:endParaRPr>
          </a:p>
        </p:txBody>
      </p:sp>
      <p:sp>
        <p:nvSpPr>
          <p:cNvPr id="256" name="Google Shape;256;p18"/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/>
              <a:t>Módulo3</a:t>
            </a:r>
            <a:r>
              <a:rPr lang="en" sz="1400" dirty="0">
                <a:solidFill>
                  <a:schemeClr val="accent3"/>
                </a:solidFill>
              </a:rPr>
              <a:t>.java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257" name="Google Shape;257;p18"/>
          <p:cNvSpPr txBox="1">
            <a:spLocks noGrp="1"/>
          </p:cNvSpPr>
          <p:nvPr>
            <p:ph type="subTitle" idx="1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Strings.css</a:t>
            </a:r>
            <a:endParaRPr sz="1400" dirty="0">
              <a:solidFill>
                <a:schemeClr val="accent3"/>
              </a:solidFill>
            </a:endParaRPr>
          </a:p>
        </p:txBody>
      </p:sp>
      <p:grpSp>
        <p:nvGrpSpPr>
          <p:cNvPr id="260" name="Google Shape;260;p18"/>
          <p:cNvGrpSpPr/>
          <p:nvPr/>
        </p:nvGrpSpPr>
        <p:grpSpPr>
          <a:xfrm>
            <a:off x="7730475" y="1570944"/>
            <a:ext cx="506100" cy="2956675"/>
            <a:chOff x="1413525" y="1247575"/>
            <a:chExt cx="506100" cy="2956675"/>
          </a:xfrm>
        </p:grpSpPr>
        <p:cxnSp>
          <p:nvCxnSpPr>
            <p:cNvPr id="261" name="Google Shape;261;p18"/>
            <p:cNvCxnSpPr/>
            <p:nvPr/>
          </p:nvCxnSpPr>
          <p:spPr>
            <a:xfrm>
              <a:off x="1552213" y="1247575"/>
              <a:ext cx="0" cy="22758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62" name="Google Shape;262;p18"/>
            <p:cNvSpPr txBox="1"/>
            <p:nvPr/>
          </p:nvSpPr>
          <p:spPr>
            <a:xfrm>
              <a:off x="1413525" y="3557750"/>
              <a:ext cx="5061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 dirty="0">
                  <a:solidFill>
                    <a:schemeClr val="accent3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3000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</p:grpSp>
      <p:sp>
        <p:nvSpPr>
          <p:cNvPr id="9" name="Rectangle 6">
            <a:extLst>
              <a:ext uri="{FF2B5EF4-FFF2-40B4-BE49-F238E27FC236}">
                <a16:creationId xmlns:a16="http://schemas.microsoft.com/office/drawing/2014/main" id="{050F7041-50D1-C196-4463-79F1C2CB7A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65754" y="1729975"/>
            <a:ext cx="4233851" cy="1912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eaLnBrk="0" fontAlgn="base" hangingPunct="0">
              <a:lnSpc>
                <a:spcPct val="115000"/>
              </a:lnSpc>
              <a:spcAft>
                <a:spcPts val="800"/>
              </a:spcAft>
              <a:buClr>
                <a:schemeClr val="dk2"/>
              </a:buClr>
              <a:buSzPts val="1000"/>
              <a:buFontTx/>
              <a:buChar char="•"/>
              <a:tabLst>
                <a:tab pos="457200" algn="l"/>
              </a:tabLst>
            </a:pPr>
            <a:r>
              <a:rPr lang="es-ES" altLang="es-ES" sz="1600" dirty="0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Unir </a:t>
            </a:r>
            <a:r>
              <a:rPr lang="es-ES" altLang="es-ES" sz="1600" dirty="0" err="1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Strings</a:t>
            </a:r>
            <a:endParaRPr lang="es-ES" altLang="es-ES" sz="1600" dirty="0">
              <a:solidFill>
                <a:schemeClr val="accent3"/>
              </a:solidFill>
              <a:latin typeface="Fira Code"/>
              <a:ea typeface="Fira Code"/>
              <a:cs typeface="Fira Code"/>
            </a:endParaRPr>
          </a:p>
          <a:p>
            <a:pPr marL="342900" indent="-342900" eaLnBrk="0" fontAlgn="base" hangingPunct="0">
              <a:lnSpc>
                <a:spcPct val="115000"/>
              </a:lnSpc>
              <a:spcAft>
                <a:spcPts val="800"/>
              </a:spcAft>
              <a:buClr>
                <a:schemeClr val="dk2"/>
              </a:buClr>
              <a:buSzPts val="1000"/>
              <a:buFontTx/>
              <a:buChar char="•"/>
              <a:tabLst>
                <a:tab pos="457200" algn="l"/>
              </a:tabLst>
            </a:pPr>
            <a:r>
              <a:rPr lang="es-ES" altLang="es-ES" sz="1600" dirty="0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Puedes unir dos o más </a:t>
            </a:r>
            <a:r>
              <a:rPr lang="es-ES" altLang="es-ES" sz="1600" dirty="0" err="1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Strings</a:t>
            </a:r>
            <a:r>
              <a:rPr lang="es-ES" altLang="es-ES" sz="1600" dirty="0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 </a:t>
            </a:r>
          </a:p>
          <a:p>
            <a:pPr marL="342900" indent="-342900" eaLnBrk="0" fontAlgn="base" hangingPunct="0">
              <a:lnSpc>
                <a:spcPct val="115000"/>
              </a:lnSpc>
              <a:spcAft>
                <a:spcPts val="800"/>
              </a:spcAft>
              <a:buClr>
                <a:schemeClr val="dk2"/>
              </a:buClr>
              <a:buSzPts val="1000"/>
              <a:buFont typeface="Courier New" panose="02070309020205020404" pitchFamily="49" charset="0"/>
              <a:buChar char="o"/>
              <a:tabLst>
                <a:tab pos="457200" algn="l"/>
              </a:tabLst>
            </a:pPr>
            <a:r>
              <a:rPr lang="es-ES" altLang="es-ES" sz="1600" dirty="0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Operador +</a:t>
            </a:r>
          </a:p>
          <a:p>
            <a:pPr marL="342900" indent="-342900" eaLnBrk="0" fontAlgn="base" hangingPunct="0">
              <a:lnSpc>
                <a:spcPct val="115000"/>
              </a:lnSpc>
              <a:spcAft>
                <a:spcPts val="800"/>
              </a:spcAft>
              <a:buClr>
                <a:schemeClr val="dk2"/>
              </a:buClr>
              <a:buSzPts val="1000"/>
              <a:buFont typeface="Courier New" panose="02070309020205020404" pitchFamily="49" charset="0"/>
              <a:buChar char="o"/>
              <a:tabLst>
                <a:tab pos="457200" algn="l"/>
              </a:tabLst>
            </a:pPr>
            <a:r>
              <a:rPr lang="es-ES" altLang="es-ES" sz="1600" dirty="0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Método </a:t>
            </a:r>
            <a:r>
              <a:rPr lang="es-ES" altLang="es-ES" sz="1600" dirty="0" err="1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concat</a:t>
            </a:r>
            <a:r>
              <a:rPr lang="es-ES" altLang="es-ES" sz="1600" dirty="0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().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62376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8"/>
          <p:cNvSpPr txBox="1">
            <a:spLocks noGrp="1"/>
          </p:cNvSpPr>
          <p:nvPr>
            <p:ph type="ctrTitle"/>
          </p:nvPr>
        </p:nvSpPr>
        <p:spPr>
          <a:xfrm>
            <a:off x="1368920" y="830650"/>
            <a:ext cx="5682300" cy="5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</a:rPr>
              <a:t>length() </a:t>
            </a:r>
            <a:r>
              <a:rPr lang="en" dirty="0">
                <a:solidFill>
                  <a:schemeClr val="accent3"/>
                </a:solidFill>
              </a:rPr>
              <a:t>{</a:t>
            </a:r>
            <a:endParaRPr dirty="0">
              <a:solidFill>
                <a:schemeClr val="accent3"/>
              </a:solidFill>
            </a:endParaRPr>
          </a:p>
        </p:txBody>
      </p:sp>
      <p:sp>
        <p:nvSpPr>
          <p:cNvPr id="254" name="Google Shape;254;p18"/>
          <p:cNvSpPr txBox="1">
            <a:spLocks noGrp="1"/>
          </p:cNvSpPr>
          <p:nvPr>
            <p:ph type="subTitle" idx="1"/>
          </p:nvPr>
        </p:nvSpPr>
        <p:spPr>
          <a:xfrm>
            <a:off x="289932" y="4694725"/>
            <a:ext cx="5285293" cy="35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1"/>
                </a:solidFill>
              </a:rPr>
              <a:t>Introducción a la programación en java</a:t>
            </a:r>
            <a:endParaRPr sz="1400" dirty="0">
              <a:solidFill>
                <a:schemeClr val="accent1"/>
              </a:solidFill>
            </a:endParaRPr>
          </a:p>
        </p:txBody>
      </p:sp>
      <p:sp>
        <p:nvSpPr>
          <p:cNvPr id="256" name="Google Shape;256;p18"/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/>
              <a:t>Módulo3</a:t>
            </a:r>
            <a:r>
              <a:rPr lang="en" sz="1400" dirty="0">
                <a:solidFill>
                  <a:schemeClr val="accent3"/>
                </a:solidFill>
              </a:rPr>
              <a:t>.java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257" name="Google Shape;257;p18"/>
          <p:cNvSpPr txBox="1">
            <a:spLocks noGrp="1"/>
          </p:cNvSpPr>
          <p:nvPr>
            <p:ph type="subTitle" idx="1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Strings.css</a:t>
            </a:r>
            <a:endParaRPr sz="1400" dirty="0">
              <a:solidFill>
                <a:schemeClr val="accent3"/>
              </a:solidFill>
            </a:endParaRPr>
          </a:p>
        </p:txBody>
      </p:sp>
      <p:grpSp>
        <p:nvGrpSpPr>
          <p:cNvPr id="260" name="Google Shape;260;p18"/>
          <p:cNvGrpSpPr/>
          <p:nvPr/>
        </p:nvGrpSpPr>
        <p:grpSpPr>
          <a:xfrm>
            <a:off x="7730475" y="1570944"/>
            <a:ext cx="506100" cy="2956675"/>
            <a:chOff x="1413525" y="1247575"/>
            <a:chExt cx="506100" cy="2956675"/>
          </a:xfrm>
        </p:grpSpPr>
        <p:cxnSp>
          <p:nvCxnSpPr>
            <p:cNvPr id="261" name="Google Shape;261;p18"/>
            <p:cNvCxnSpPr/>
            <p:nvPr/>
          </p:nvCxnSpPr>
          <p:spPr>
            <a:xfrm>
              <a:off x="1552213" y="1247575"/>
              <a:ext cx="0" cy="22758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62" name="Google Shape;262;p18"/>
            <p:cNvSpPr txBox="1"/>
            <p:nvPr/>
          </p:nvSpPr>
          <p:spPr>
            <a:xfrm>
              <a:off x="1413525" y="3557750"/>
              <a:ext cx="5061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 dirty="0">
                  <a:solidFill>
                    <a:schemeClr val="accent3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3000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</p:grpSp>
      <p:sp>
        <p:nvSpPr>
          <p:cNvPr id="9" name="Rectangle 6">
            <a:extLst>
              <a:ext uri="{FF2B5EF4-FFF2-40B4-BE49-F238E27FC236}">
                <a16:creationId xmlns:a16="http://schemas.microsoft.com/office/drawing/2014/main" id="{050F7041-50D1-C196-4463-79F1C2CB7A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7617" y="1901972"/>
            <a:ext cx="6085320" cy="11365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eaLnBrk="0" fontAlgn="base" hangingPunct="0">
              <a:lnSpc>
                <a:spcPct val="115000"/>
              </a:lnSpc>
              <a:spcAft>
                <a:spcPts val="800"/>
              </a:spcAft>
              <a:buClr>
                <a:schemeClr val="dk2"/>
              </a:buClr>
              <a:buSzPts val="1000"/>
              <a:buFontTx/>
              <a:buChar char="•"/>
              <a:tabLst>
                <a:tab pos="457200" algn="l"/>
              </a:tabLst>
            </a:pPr>
            <a:r>
              <a:rPr lang="es-ES" sz="1600" dirty="0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Longitud de un </a:t>
            </a:r>
            <a:r>
              <a:rPr lang="es-ES" sz="1600" dirty="0" err="1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String</a:t>
            </a:r>
            <a:r>
              <a:rPr lang="es-ES" altLang="es-ES" sz="1600" dirty="0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 </a:t>
            </a:r>
          </a:p>
          <a:p>
            <a:pPr marL="342900" indent="-342900" eaLnBrk="0" fontAlgn="base" hangingPunct="0">
              <a:lnSpc>
                <a:spcPct val="115000"/>
              </a:lnSpc>
              <a:spcAft>
                <a:spcPts val="800"/>
              </a:spcAft>
              <a:buClr>
                <a:schemeClr val="dk2"/>
              </a:buClr>
              <a:buSzPts val="1000"/>
              <a:buFontTx/>
              <a:buChar char="•"/>
              <a:tabLst>
                <a:tab pos="457200" algn="l"/>
              </a:tabLst>
            </a:pPr>
            <a:r>
              <a:rPr lang="es-ES" sz="1600" dirty="0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Devuelve el número de caracteres del </a:t>
            </a:r>
            <a:r>
              <a:rPr lang="es-ES" sz="1600" dirty="0" err="1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String</a:t>
            </a:r>
            <a:endParaRPr lang="es-ES" sz="1600" dirty="0">
              <a:solidFill>
                <a:schemeClr val="accent3"/>
              </a:solidFill>
              <a:latin typeface="Fira Code"/>
              <a:ea typeface="Fira Code"/>
              <a:cs typeface="Fira Code"/>
            </a:endParaRPr>
          </a:p>
          <a:p>
            <a:pPr marL="342900" indent="-342900" eaLnBrk="0" fontAlgn="base" hangingPunct="0">
              <a:lnSpc>
                <a:spcPct val="115000"/>
              </a:lnSpc>
              <a:spcAft>
                <a:spcPts val="800"/>
              </a:spcAft>
              <a:buClr>
                <a:schemeClr val="dk2"/>
              </a:buClr>
              <a:buSzPts val="1000"/>
              <a:buFontTx/>
              <a:buChar char="•"/>
              <a:tabLst>
                <a:tab pos="457200" algn="l"/>
              </a:tabLst>
            </a:pPr>
            <a:r>
              <a:rPr lang="es-ES" sz="1600" dirty="0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los espacios también cuentan como caracteres.</a:t>
            </a:r>
            <a:endParaRPr lang="es-ES" altLang="es-ES" sz="1600" dirty="0">
              <a:solidFill>
                <a:schemeClr val="accent3"/>
              </a:solidFill>
              <a:latin typeface="Fira Code"/>
              <a:ea typeface="Fira Code"/>
              <a:cs typeface="Fira Code"/>
            </a:endParaRPr>
          </a:p>
        </p:txBody>
      </p:sp>
    </p:spTree>
    <p:extLst>
      <p:ext uri="{BB962C8B-B14F-4D97-AF65-F5344CB8AC3E}">
        <p14:creationId xmlns:p14="http://schemas.microsoft.com/office/powerpoint/2010/main" val="14820810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8"/>
          <p:cNvSpPr txBox="1">
            <a:spLocks noGrp="1"/>
          </p:cNvSpPr>
          <p:nvPr>
            <p:ph type="ctrTitle"/>
          </p:nvPr>
        </p:nvSpPr>
        <p:spPr>
          <a:xfrm>
            <a:off x="1368920" y="830650"/>
            <a:ext cx="5682300" cy="5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</a:rPr>
              <a:t>charAt() </a:t>
            </a:r>
            <a:r>
              <a:rPr lang="en" dirty="0">
                <a:solidFill>
                  <a:schemeClr val="accent3"/>
                </a:solidFill>
              </a:rPr>
              <a:t>{</a:t>
            </a:r>
            <a:endParaRPr dirty="0">
              <a:solidFill>
                <a:schemeClr val="accent3"/>
              </a:solidFill>
            </a:endParaRPr>
          </a:p>
        </p:txBody>
      </p:sp>
      <p:sp>
        <p:nvSpPr>
          <p:cNvPr id="254" name="Google Shape;254;p18"/>
          <p:cNvSpPr txBox="1">
            <a:spLocks noGrp="1"/>
          </p:cNvSpPr>
          <p:nvPr>
            <p:ph type="subTitle" idx="1"/>
          </p:nvPr>
        </p:nvSpPr>
        <p:spPr>
          <a:xfrm>
            <a:off x="289932" y="4694725"/>
            <a:ext cx="5285293" cy="35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1"/>
                </a:solidFill>
              </a:rPr>
              <a:t>Introducción a la programación en java</a:t>
            </a:r>
            <a:endParaRPr sz="1400" dirty="0">
              <a:solidFill>
                <a:schemeClr val="accent1"/>
              </a:solidFill>
            </a:endParaRPr>
          </a:p>
        </p:txBody>
      </p:sp>
      <p:sp>
        <p:nvSpPr>
          <p:cNvPr id="256" name="Google Shape;256;p18"/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/>
              <a:t>Módulo3</a:t>
            </a:r>
            <a:r>
              <a:rPr lang="en" sz="1400" dirty="0">
                <a:solidFill>
                  <a:schemeClr val="accent3"/>
                </a:solidFill>
              </a:rPr>
              <a:t>.java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257" name="Google Shape;257;p18"/>
          <p:cNvSpPr txBox="1">
            <a:spLocks noGrp="1"/>
          </p:cNvSpPr>
          <p:nvPr>
            <p:ph type="subTitle" idx="1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Strings.css</a:t>
            </a:r>
            <a:endParaRPr sz="1400" dirty="0">
              <a:solidFill>
                <a:schemeClr val="accent3"/>
              </a:solidFill>
            </a:endParaRPr>
          </a:p>
        </p:txBody>
      </p:sp>
      <p:grpSp>
        <p:nvGrpSpPr>
          <p:cNvPr id="260" name="Google Shape;260;p18"/>
          <p:cNvGrpSpPr/>
          <p:nvPr/>
        </p:nvGrpSpPr>
        <p:grpSpPr>
          <a:xfrm>
            <a:off x="7730475" y="1570944"/>
            <a:ext cx="506100" cy="2956675"/>
            <a:chOff x="1413525" y="1247575"/>
            <a:chExt cx="506100" cy="2956675"/>
          </a:xfrm>
        </p:grpSpPr>
        <p:cxnSp>
          <p:nvCxnSpPr>
            <p:cNvPr id="261" name="Google Shape;261;p18"/>
            <p:cNvCxnSpPr/>
            <p:nvPr/>
          </p:nvCxnSpPr>
          <p:spPr>
            <a:xfrm>
              <a:off x="1552213" y="1247575"/>
              <a:ext cx="0" cy="22758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62" name="Google Shape;262;p18"/>
            <p:cNvSpPr txBox="1"/>
            <p:nvPr/>
          </p:nvSpPr>
          <p:spPr>
            <a:xfrm>
              <a:off x="1413525" y="3557750"/>
              <a:ext cx="5061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 dirty="0">
                  <a:solidFill>
                    <a:schemeClr val="accent3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3000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</p:grpSp>
      <p:sp>
        <p:nvSpPr>
          <p:cNvPr id="9" name="Rectangle 6">
            <a:extLst>
              <a:ext uri="{FF2B5EF4-FFF2-40B4-BE49-F238E27FC236}">
                <a16:creationId xmlns:a16="http://schemas.microsoft.com/office/drawing/2014/main" id="{050F7041-50D1-C196-4463-79F1C2CB7A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2286" y="1570944"/>
            <a:ext cx="6107478" cy="257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eaLnBrk="0" fontAlgn="base" hangingPunct="0">
              <a:lnSpc>
                <a:spcPct val="115000"/>
              </a:lnSpc>
              <a:spcAft>
                <a:spcPts val="800"/>
              </a:spcAft>
              <a:buClr>
                <a:schemeClr val="dk2"/>
              </a:buClr>
              <a:buSzPts val="1000"/>
              <a:buFontTx/>
              <a:buChar char="•"/>
              <a:tabLst>
                <a:tab pos="457200" algn="l"/>
              </a:tabLst>
            </a:pPr>
            <a:r>
              <a:rPr lang="es-ES" sz="1600" dirty="0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Acceder a un carácter</a:t>
            </a:r>
          </a:p>
          <a:p>
            <a:pPr marL="342900" indent="-342900" eaLnBrk="0" fontAlgn="base" hangingPunct="0">
              <a:lnSpc>
                <a:spcPct val="115000"/>
              </a:lnSpc>
              <a:spcAft>
                <a:spcPts val="800"/>
              </a:spcAft>
              <a:buClr>
                <a:schemeClr val="dk2"/>
              </a:buClr>
              <a:buSzPts val="1000"/>
              <a:buFontTx/>
              <a:buChar char="•"/>
              <a:tabLst>
                <a:tab pos="457200" algn="l"/>
              </a:tabLst>
            </a:pPr>
            <a:r>
              <a:rPr lang="es-ES" sz="1600" dirty="0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Devuelve el carácter en una posición específica (empezando en 0).</a:t>
            </a:r>
          </a:p>
          <a:p>
            <a:pPr marL="342900" indent="-342900" eaLnBrk="0" fontAlgn="base" hangingPunct="0">
              <a:lnSpc>
                <a:spcPct val="115000"/>
              </a:lnSpc>
              <a:spcAft>
                <a:spcPts val="800"/>
              </a:spcAft>
              <a:buClr>
                <a:schemeClr val="dk2"/>
              </a:buClr>
              <a:buSzPts val="1000"/>
              <a:buFontTx/>
              <a:buChar char="•"/>
              <a:tabLst>
                <a:tab pos="457200" algn="l"/>
              </a:tabLst>
            </a:pPr>
            <a:endParaRPr lang="es-ES" sz="1600" dirty="0">
              <a:solidFill>
                <a:schemeClr val="accent3"/>
              </a:solidFill>
              <a:latin typeface="Fira Code"/>
              <a:ea typeface="Fira Code"/>
              <a:cs typeface="Fira Code"/>
            </a:endParaRPr>
          </a:p>
          <a:p>
            <a:pPr eaLnBrk="0" fontAlgn="base" hangingPunct="0">
              <a:lnSpc>
                <a:spcPct val="115000"/>
              </a:lnSpc>
              <a:spcAft>
                <a:spcPts val="800"/>
              </a:spcAft>
              <a:buClr>
                <a:schemeClr val="dk2"/>
              </a:buClr>
              <a:buSzPts val="1000"/>
              <a:tabLst>
                <a:tab pos="457200" algn="l"/>
              </a:tabLst>
            </a:pPr>
            <a:r>
              <a:rPr lang="pt-BR" altLang="es-ES" sz="1600" dirty="0" err="1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Ejemplo</a:t>
            </a:r>
            <a:r>
              <a:rPr lang="pt-BR" altLang="es-ES" sz="1600" dirty="0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:</a:t>
            </a:r>
          </a:p>
          <a:p>
            <a:pPr eaLnBrk="0" fontAlgn="base" hangingPunct="0">
              <a:lnSpc>
                <a:spcPct val="115000"/>
              </a:lnSpc>
              <a:spcAft>
                <a:spcPts val="800"/>
              </a:spcAft>
              <a:buClr>
                <a:schemeClr val="dk2"/>
              </a:buClr>
              <a:buSzPts val="1000"/>
              <a:tabLst>
                <a:tab pos="457200" algn="l"/>
              </a:tabLst>
            </a:pPr>
            <a:r>
              <a:rPr lang="pt-BR" altLang="es-ES" sz="1600" dirty="0" err="1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String</a:t>
            </a:r>
            <a:r>
              <a:rPr lang="pt-BR" altLang="es-ES" sz="1600" dirty="0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 texto = "Java";</a:t>
            </a:r>
          </a:p>
          <a:p>
            <a:pPr eaLnBrk="0" fontAlgn="base" hangingPunct="0">
              <a:lnSpc>
                <a:spcPct val="115000"/>
              </a:lnSpc>
              <a:spcAft>
                <a:spcPts val="800"/>
              </a:spcAft>
              <a:buClr>
                <a:schemeClr val="dk2"/>
              </a:buClr>
              <a:buSzPts val="1000"/>
              <a:tabLst>
                <a:tab pos="457200" algn="l"/>
              </a:tabLst>
            </a:pPr>
            <a:r>
              <a:rPr lang="pt-BR" altLang="es-ES" sz="1600" dirty="0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char letra = </a:t>
            </a:r>
            <a:r>
              <a:rPr lang="pt-BR" altLang="es-ES" sz="1600" dirty="0" err="1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texto.charAt</a:t>
            </a:r>
            <a:r>
              <a:rPr lang="pt-BR" altLang="es-ES" sz="1600" dirty="0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(1);  // 'a'</a:t>
            </a:r>
            <a:endParaRPr lang="es-ES" altLang="es-ES" sz="1600" dirty="0">
              <a:solidFill>
                <a:schemeClr val="accent3"/>
              </a:solidFill>
              <a:latin typeface="Fira Code"/>
              <a:ea typeface="Fira Code"/>
              <a:cs typeface="Fira Code"/>
            </a:endParaRPr>
          </a:p>
        </p:txBody>
      </p:sp>
    </p:spTree>
    <p:extLst>
      <p:ext uri="{BB962C8B-B14F-4D97-AF65-F5344CB8AC3E}">
        <p14:creationId xmlns:p14="http://schemas.microsoft.com/office/powerpoint/2010/main" val="24581820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8"/>
          <p:cNvSpPr txBox="1">
            <a:spLocks noGrp="1"/>
          </p:cNvSpPr>
          <p:nvPr>
            <p:ph type="ctrTitle"/>
          </p:nvPr>
        </p:nvSpPr>
        <p:spPr>
          <a:xfrm>
            <a:off x="1368920" y="830650"/>
            <a:ext cx="5682300" cy="5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</a:rPr>
              <a:t>substring()</a:t>
            </a:r>
            <a:r>
              <a:rPr lang="en" dirty="0">
                <a:solidFill>
                  <a:schemeClr val="accent3"/>
                </a:solidFill>
              </a:rPr>
              <a:t>{</a:t>
            </a:r>
            <a:endParaRPr dirty="0">
              <a:solidFill>
                <a:schemeClr val="accent3"/>
              </a:solidFill>
            </a:endParaRPr>
          </a:p>
        </p:txBody>
      </p:sp>
      <p:sp>
        <p:nvSpPr>
          <p:cNvPr id="254" name="Google Shape;254;p18"/>
          <p:cNvSpPr txBox="1">
            <a:spLocks noGrp="1"/>
          </p:cNvSpPr>
          <p:nvPr>
            <p:ph type="subTitle" idx="1"/>
          </p:nvPr>
        </p:nvSpPr>
        <p:spPr>
          <a:xfrm>
            <a:off x="289932" y="4694725"/>
            <a:ext cx="5285293" cy="35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1"/>
                </a:solidFill>
              </a:rPr>
              <a:t>Introducción a la programación en java</a:t>
            </a:r>
            <a:endParaRPr sz="1400" dirty="0">
              <a:solidFill>
                <a:schemeClr val="accent1"/>
              </a:solidFill>
            </a:endParaRPr>
          </a:p>
        </p:txBody>
      </p:sp>
      <p:sp>
        <p:nvSpPr>
          <p:cNvPr id="256" name="Google Shape;256;p18"/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/>
              <a:t>Módulo3</a:t>
            </a:r>
            <a:r>
              <a:rPr lang="en" sz="1400" dirty="0">
                <a:solidFill>
                  <a:schemeClr val="accent3"/>
                </a:solidFill>
              </a:rPr>
              <a:t>.java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257" name="Google Shape;257;p18"/>
          <p:cNvSpPr txBox="1">
            <a:spLocks noGrp="1"/>
          </p:cNvSpPr>
          <p:nvPr>
            <p:ph type="subTitle" idx="1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Strings.css</a:t>
            </a:r>
            <a:endParaRPr sz="1400" dirty="0">
              <a:solidFill>
                <a:schemeClr val="accent3"/>
              </a:solidFill>
            </a:endParaRPr>
          </a:p>
        </p:txBody>
      </p:sp>
      <p:grpSp>
        <p:nvGrpSpPr>
          <p:cNvPr id="260" name="Google Shape;260;p18"/>
          <p:cNvGrpSpPr/>
          <p:nvPr/>
        </p:nvGrpSpPr>
        <p:grpSpPr>
          <a:xfrm>
            <a:off x="8344251" y="1570945"/>
            <a:ext cx="506100" cy="2956675"/>
            <a:chOff x="1413525" y="1247575"/>
            <a:chExt cx="506100" cy="2956675"/>
          </a:xfrm>
        </p:grpSpPr>
        <p:cxnSp>
          <p:nvCxnSpPr>
            <p:cNvPr id="261" name="Google Shape;261;p18"/>
            <p:cNvCxnSpPr/>
            <p:nvPr/>
          </p:nvCxnSpPr>
          <p:spPr>
            <a:xfrm>
              <a:off x="1552213" y="1247575"/>
              <a:ext cx="0" cy="22758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62" name="Google Shape;262;p18"/>
            <p:cNvSpPr txBox="1"/>
            <p:nvPr/>
          </p:nvSpPr>
          <p:spPr>
            <a:xfrm>
              <a:off x="1413525" y="3557750"/>
              <a:ext cx="5061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 dirty="0">
                  <a:solidFill>
                    <a:schemeClr val="accent3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3000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</p:grpSp>
      <p:sp>
        <p:nvSpPr>
          <p:cNvPr id="9" name="Rectangle 6">
            <a:extLst>
              <a:ext uri="{FF2B5EF4-FFF2-40B4-BE49-F238E27FC236}">
                <a16:creationId xmlns:a16="http://schemas.microsoft.com/office/drawing/2014/main" id="{050F7041-50D1-C196-4463-79F1C2CB7A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2285" y="1712522"/>
            <a:ext cx="6566993" cy="22938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eaLnBrk="0" fontAlgn="base" hangingPunct="0">
              <a:lnSpc>
                <a:spcPct val="115000"/>
              </a:lnSpc>
              <a:spcAft>
                <a:spcPts val="800"/>
              </a:spcAft>
              <a:buClr>
                <a:schemeClr val="dk2"/>
              </a:buClr>
              <a:buSzPts val="1000"/>
              <a:buFontTx/>
              <a:buChar char="•"/>
              <a:tabLst>
                <a:tab pos="457200" algn="l"/>
              </a:tabLst>
            </a:pPr>
            <a:r>
              <a:rPr lang="es-ES" sz="1600" dirty="0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Extraer partes de un </a:t>
            </a:r>
            <a:r>
              <a:rPr lang="es-ES" sz="1600" dirty="0" err="1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String</a:t>
            </a:r>
            <a:endParaRPr lang="es-ES" sz="1600" dirty="0">
              <a:solidFill>
                <a:schemeClr val="accent3"/>
              </a:solidFill>
              <a:latin typeface="Fira Code"/>
              <a:ea typeface="Fira Code"/>
              <a:cs typeface="Fira Code"/>
            </a:endParaRPr>
          </a:p>
          <a:p>
            <a:pPr eaLnBrk="0" fontAlgn="base" hangingPunct="0">
              <a:lnSpc>
                <a:spcPct val="115000"/>
              </a:lnSpc>
              <a:spcAft>
                <a:spcPts val="800"/>
              </a:spcAft>
              <a:buClr>
                <a:schemeClr val="dk2"/>
              </a:buClr>
              <a:buSzPts val="1000"/>
              <a:tabLst>
                <a:tab pos="457200" algn="l"/>
              </a:tabLst>
            </a:pPr>
            <a:endParaRPr lang="es-ES" sz="1600" dirty="0">
              <a:solidFill>
                <a:schemeClr val="accent3"/>
              </a:solidFill>
              <a:latin typeface="Fira Code"/>
              <a:ea typeface="Fira Code"/>
              <a:cs typeface="Fira Code"/>
            </a:endParaRPr>
          </a:p>
          <a:p>
            <a:pPr eaLnBrk="0" fontAlgn="base" hangingPunct="0">
              <a:lnSpc>
                <a:spcPct val="115000"/>
              </a:lnSpc>
              <a:spcAft>
                <a:spcPts val="800"/>
              </a:spcAft>
              <a:buClr>
                <a:schemeClr val="dk2"/>
              </a:buClr>
              <a:buSzPts val="1000"/>
              <a:tabLst>
                <a:tab pos="457200" algn="l"/>
              </a:tabLst>
            </a:pPr>
            <a:r>
              <a:rPr lang="pt-BR" altLang="es-ES" sz="1600" dirty="0" err="1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Ejemplo</a:t>
            </a:r>
            <a:r>
              <a:rPr lang="pt-BR" altLang="es-ES" sz="1600" dirty="0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:</a:t>
            </a:r>
          </a:p>
          <a:p>
            <a:pPr eaLnBrk="0" fontAlgn="base" hangingPunct="0">
              <a:lnSpc>
                <a:spcPct val="115000"/>
              </a:lnSpc>
              <a:spcAft>
                <a:spcPts val="800"/>
              </a:spcAft>
              <a:buClr>
                <a:schemeClr val="dk2"/>
              </a:buClr>
              <a:buSzPts val="1000"/>
              <a:tabLst>
                <a:tab pos="457200" algn="l"/>
              </a:tabLst>
            </a:pPr>
            <a:r>
              <a:rPr lang="es-ES" sz="1600" dirty="0" err="1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String</a:t>
            </a:r>
            <a:r>
              <a:rPr lang="es-ES" sz="1600" dirty="0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 texto = "Hola Mundo";</a:t>
            </a:r>
          </a:p>
          <a:p>
            <a:pPr eaLnBrk="0" fontAlgn="base" hangingPunct="0">
              <a:lnSpc>
                <a:spcPct val="115000"/>
              </a:lnSpc>
              <a:spcAft>
                <a:spcPts val="800"/>
              </a:spcAft>
              <a:buClr>
                <a:schemeClr val="dk2"/>
              </a:buClr>
              <a:buSzPts val="1000"/>
              <a:tabLst>
                <a:tab pos="457200" algn="l"/>
              </a:tabLst>
            </a:pPr>
            <a:r>
              <a:rPr lang="es-ES" sz="1600" dirty="0" err="1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String</a:t>
            </a:r>
            <a:r>
              <a:rPr lang="es-ES" sz="1600" dirty="0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 parte = </a:t>
            </a:r>
            <a:r>
              <a:rPr lang="es-ES" sz="1600" dirty="0" err="1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texto.substring</a:t>
            </a:r>
            <a:r>
              <a:rPr lang="es-ES" sz="1600" dirty="0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(5);     // "Mundo"</a:t>
            </a:r>
          </a:p>
          <a:p>
            <a:pPr eaLnBrk="0" fontAlgn="base" hangingPunct="0">
              <a:lnSpc>
                <a:spcPct val="115000"/>
              </a:lnSpc>
              <a:spcAft>
                <a:spcPts val="800"/>
              </a:spcAft>
              <a:buClr>
                <a:schemeClr val="dk2"/>
              </a:buClr>
              <a:buSzPts val="1000"/>
              <a:tabLst>
                <a:tab pos="457200" algn="l"/>
              </a:tabLst>
            </a:pPr>
            <a:r>
              <a:rPr lang="es-ES" sz="1600" dirty="0" err="1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String</a:t>
            </a:r>
            <a:r>
              <a:rPr lang="es-ES" sz="1600" dirty="0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 sub = </a:t>
            </a:r>
            <a:r>
              <a:rPr lang="es-ES" sz="1600" dirty="0" err="1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texto.substring</a:t>
            </a:r>
            <a:r>
              <a:rPr lang="es-ES" sz="1600" dirty="0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(0, 4);    // "Hola"</a:t>
            </a:r>
          </a:p>
        </p:txBody>
      </p:sp>
    </p:spTree>
    <p:extLst>
      <p:ext uri="{BB962C8B-B14F-4D97-AF65-F5344CB8AC3E}">
        <p14:creationId xmlns:p14="http://schemas.microsoft.com/office/powerpoint/2010/main" val="19358933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8"/>
          <p:cNvSpPr txBox="1">
            <a:spLocks noGrp="1"/>
          </p:cNvSpPr>
          <p:nvPr>
            <p:ph type="ctrTitle"/>
          </p:nvPr>
        </p:nvSpPr>
        <p:spPr>
          <a:xfrm>
            <a:off x="1368919" y="830650"/>
            <a:ext cx="7481429" cy="5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s-ES" dirty="0" err="1">
                <a:solidFill>
                  <a:schemeClr val="accent2"/>
                </a:solidFill>
              </a:rPr>
              <a:t>toUpperCase</a:t>
            </a:r>
            <a:r>
              <a:rPr lang="es-ES" dirty="0">
                <a:solidFill>
                  <a:schemeClr val="accent2"/>
                </a:solidFill>
              </a:rPr>
              <a:t>() / </a:t>
            </a:r>
            <a:r>
              <a:rPr lang="es-ES" dirty="0" err="1">
                <a:solidFill>
                  <a:schemeClr val="accent2"/>
                </a:solidFill>
              </a:rPr>
              <a:t>toLowerCase</a:t>
            </a:r>
            <a:r>
              <a:rPr lang="es-ES" dirty="0">
                <a:solidFill>
                  <a:schemeClr val="accent2"/>
                </a:solidFill>
              </a:rPr>
              <a:t>()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254" name="Google Shape;254;p18"/>
          <p:cNvSpPr txBox="1">
            <a:spLocks noGrp="1"/>
          </p:cNvSpPr>
          <p:nvPr>
            <p:ph type="subTitle" idx="1"/>
          </p:nvPr>
        </p:nvSpPr>
        <p:spPr>
          <a:xfrm>
            <a:off x="289932" y="4694725"/>
            <a:ext cx="5285293" cy="35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1"/>
                </a:solidFill>
              </a:rPr>
              <a:t>Introducción a la programación en java</a:t>
            </a:r>
            <a:endParaRPr sz="1400" dirty="0">
              <a:solidFill>
                <a:schemeClr val="accent1"/>
              </a:solidFill>
            </a:endParaRPr>
          </a:p>
        </p:txBody>
      </p:sp>
      <p:sp>
        <p:nvSpPr>
          <p:cNvPr id="256" name="Google Shape;256;p18"/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/>
              <a:t>Módulo3</a:t>
            </a:r>
            <a:r>
              <a:rPr lang="en" sz="1400" dirty="0">
                <a:solidFill>
                  <a:schemeClr val="accent3"/>
                </a:solidFill>
              </a:rPr>
              <a:t>.java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257" name="Google Shape;257;p18"/>
          <p:cNvSpPr txBox="1">
            <a:spLocks noGrp="1"/>
          </p:cNvSpPr>
          <p:nvPr>
            <p:ph type="subTitle" idx="1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Strings.css</a:t>
            </a:r>
            <a:endParaRPr sz="1400" dirty="0">
              <a:solidFill>
                <a:schemeClr val="accent3"/>
              </a:solidFill>
            </a:endParaRPr>
          </a:p>
        </p:txBody>
      </p:sp>
      <p:grpSp>
        <p:nvGrpSpPr>
          <p:cNvPr id="260" name="Google Shape;260;p18"/>
          <p:cNvGrpSpPr/>
          <p:nvPr/>
        </p:nvGrpSpPr>
        <p:grpSpPr>
          <a:xfrm>
            <a:off x="8344251" y="1570945"/>
            <a:ext cx="506100" cy="2956675"/>
            <a:chOff x="1413525" y="1247575"/>
            <a:chExt cx="506100" cy="2956675"/>
          </a:xfrm>
        </p:grpSpPr>
        <p:cxnSp>
          <p:nvCxnSpPr>
            <p:cNvPr id="261" name="Google Shape;261;p18"/>
            <p:cNvCxnSpPr/>
            <p:nvPr/>
          </p:nvCxnSpPr>
          <p:spPr>
            <a:xfrm>
              <a:off x="1552213" y="1247575"/>
              <a:ext cx="0" cy="22758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62" name="Google Shape;262;p18"/>
            <p:cNvSpPr txBox="1"/>
            <p:nvPr/>
          </p:nvSpPr>
          <p:spPr>
            <a:xfrm>
              <a:off x="1413525" y="3557750"/>
              <a:ext cx="5061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 dirty="0">
                  <a:solidFill>
                    <a:schemeClr val="accent3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3000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</p:grpSp>
      <p:sp>
        <p:nvSpPr>
          <p:cNvPr id="9" name="Rectangle 6">
            <a:extLst>
              <a:ext uri="{FF2B5EF4-FFF2-40B4-BE49-F238E27FC236}">
                <a16:creationId xmlns:a16="http://schemas.microsoft.com/office/drawing/2014/main" id="{050F7041-50D1-C196-4463-79F1C2CB7A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2285" y="1535551"/>
            <a:ext cx="6566993" cy="26477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eaLnBrk="0" fontAlgn="base" hangingPunct="0">
              <a:lnSpc>
                <a:spcPct val="115000"/>
              </a:lnSpc>
              <a:spcAft>
                <a:spcPts val="800"/>
              </a:spcAft>
              <a:buClr>
                <a:schemeClr val="dk2"/>
              </a:buClr>
              <a:buSzPts val="1000"/>
              <a:buFontTx/>
              <a:buChar char="•"/>
              <a:tabLst>
                <a:tab pos="457200" algn="l"/>
              </a:tabLst>
            </a:pPr>
            <a:r>
              <a:rPr lang="es-ES" sz="1600" dirty="0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Convierte todo el texto a mayúsculas o minúsculas</a:t>
            </a:r>
            <a:r>
              <a:rPr lang="es-ES" sz="2000" dirty="0"/>
              <a:t>.</a:t>
            </a:r>
          </a:p>
          <a:p>
            <a:pPr marL="342900" indent="-342900" eaLnBrk="0" fontAlgn="base" hangingPunct="0">
              <a:lnSpc>
                <a:spcPct val="115000"/>
              </a:lnSpc>
              <a:spcAft>
                <a:spcPts val="800"/>
              </a:spcAft>
              <a:buClr>
                <a:schemeClr val="dk2"/>
              </a:buClr>
              <a:buSzPts val="1000"/>
              <a:buFontTx/>
              <a:buChar char="•"/>
              <a:tabLst>
                <a:tab pos="457200" algn="l"/>
              </a:tabLst>
            </a:pPr>
            <a:endParaRPr lang="es-ES" sz="1600" dirty="0">
              <a:solidFill>
                <a:schemeClr val="accent3"/>
              </a:solidFill>
              <a:latin typeface="Fira Code"/>
              <a:ea typeface="Fira Code"/>
              <a:cs typeface="Fira Code"/>
            </a:endParaRPr>
          </a:p>
          <a:p>
            <a:pPr eaLnBrk="0" fontAlgn="base" hangingPunct="0">
              <a:lnSpc>
                <a:spcPct val="115000"/>
              </a:lnSpc>
              <a:spcAft>
                <a:spcPts val="800"/>
              </a:spcAft>
              <a:buClr>
                <a:schemeClr val="dk2"/>
              </a:buClr>
              <a:buSzPts val="1000"/>
              <a:tabLst>
                <a:tab pos="457200" algn="l"/>
              </a:tabLst>
            </a:pPr>
            <a:r>
              <a:rPr lang="pt-BR" altLang="es-ES" sz="1600" dirty="0" err="1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Ejemplo</a:t>
            </a:r>
            <a:r>
              <a:rPr lang="pt-BR" altLang="es-ES" sz="1600" dirty="0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:</a:t>
            </a:r>
          </a:p>
          <a:p>
            <a:pPr eaLnBrk="0" fontAlgn="base" hangingPunct="0">
              <a:lnSpc>
                <a:spcPct val="115000"/>
              </a:lnSpc>
              <a:spcAft>
                <a:spcPts val="800"/>
              </a:spcAft>
              <a:buClr>
                <a:schemeClr val="dk2"/>
              </a:buClr>
              <a:buSzPts val="1000"/>
              <a:tabLst>
                <a:tab pos="457200" algn="l"/>
              </a:tabLst>
            </a:pPr>
            <a:r>
              <a:rPr lang="es-ES" sz="1600" dirty="0" err="1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String</a:t>
            </a:r>
            <a:r>
              <a:rPr lang="es-ES" sz="1600" dirty="0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 texto = "Hola";</a:t>
            </a:r>
          </a:p>
          <a:p>
            <a:pPr eaLnBrk="0" fontAlgn="base" hangingPunct="0">
              <a:lnSpc>
                <a:spcPct val="115000"/>
              </a:lnSpc>
              <a:spcAft>
                <a:spcPts val="800"/>
              </a:spcAft>
              <a:buClr>
                <a:schemeClr val="dk2"/>
              </a:buClr>
              <a:buSzPts val="1000"/>
              <a:tabLst>
                <a:tab pos="457200" algn="l"/>
              </a:tabLst>
            </a:pPr>
            <a:r>
              <a:rPr lang="es-ES" sz="1600" dirty="0" err="1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System.out.println</a:t>
            </a:r>
            <a:r>
              <a:rPr lang="es-ES" sz="1600" dirty="0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(</a:t>
            </a:r>
            <a:r>
              <a:rPr lang="es-ES" sz="1600" dirty="0" err="1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texto.toUpperCase</a:t>
            </a:r>
            <a:r>
              <a:rPr lang="es-ES" sz="1600" dirty="0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()); // "HOLA"</a:t>
            </a:r>
          </a:p>
          <a:p>
            <a:pPr eaLnBrk="0" fontAlgn="base" hangingPunct="0">
              <a:lnSpc>
                <a:spcPct val="115000"/>
              </a:lnSpc>
              <a:spcAft>
                <a:spcPts val="800"/>
              </a:spcAft>
              <a:buClr>
                <a:schemeClr val="dk2"/>
              </a:buClr>
              <a:buSzPts val="1000"/>
              <a:tabLst>
                <a:tab pos="457200" algn="l"/>
              </a:tabLst>
            </a:pPr>
            <a:r>
              <a:rPr lang="es-ES" sz="1600" dirty="0" err="1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System.out.println</a:t>
            </a:r>
            <a:r>
              <a:rPr lang="es-ES" sz="1600" dirty="0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(</a:t>
            </a:r>
            <a:r>
              <a:rPr lang="es-ES" sz="1600" dirty="0" err="1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texto.toLowerCase</a:t>
            </a:r>
            <a:r>
              <a:rPr lang="es-ES" sz="1600" dirty="0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()); // "hola"</a:t>
            </a:r>
          </a:p>
        </p:txBody>
      </p:sp>
    </p:spTree>
    <p:extLst>
      <p:ext uri="{BB962C8B-B14F-4D97-AF65-F5344CB8AC3E}">
        <p14:creationId xmlns:p14="http://schemas.microsoft.com/office/powerpoint/2010/main" val="22908075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8"/>
          <p:cNvSpPr txBox="1">
            <a:spLocks noGrp="1"/>
          </p:cNvSpPr>
          <p:nvPr>
            <p:ph type="ctrTitle"/>
          </p:nvPr>
        </p:nvSpPr>
        <p:spPr>
          <a:xfrm>
            <a:off x="1368919" y="830650"/>
            <a:ext cx="7481429" cy="5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s-ES" dirty="0" err="1">
                <a:solidFill>
                  <a:schemeClr val="accent2"/>
                </a:solidFill>
              </a:rPr>
              <a:t>contains</a:t>
            </a:r>
            <a:r>
              <a:rPr lang="es-ES" dirty="0">
                <a:solidFill>
                  <a:schemeClr val="accent2"/>
                </a:solidFill>
              </a:rPr>
              <a:t>()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254" name="Google Shape;254;p18"/>
          <p:cNvSpPr txBox="1">
            <a:spLocks noGrp="1"/>
          </p:cNvSpPr>
          <p:nvPr>
            <p:ph type="subTitle" idx="1"/>
          </p:nvPr>
        </p:nvSpPr>
        <p:spPr>
          <a:xfrm>
            <a:off x="289932" y="4694725"/>
            <a:ext cx="5285293" cy="35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1"/>
                </a:solidFill>
              </a:rPr>
              <a:t>Introducción a la programación en java</a:t>
            </a:r>
            <a:endParaRPr sz="1400" dirty="0">
              <a:solidFill>
                <a:schemeClr val="accent1"/>
              </a:solidFill>
            </a:endParaRPr>
          </a:p>
        </p:txBody>
      </p:sp>
      <p:sp>
        <p:nvSpPr>
          <p:cNvPr id="256" name="Google Shape;256;p18"/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/>
              <a:t>Módulo3</a:t>
            </a:r>
            <a:r>
              <a:rPr lang="en" sz="1400" dirty="0">
                <a:solidFill>
                  <a:schemeClr val="accent3"/>
                </a:solidFill>
              </a:rPr>
              <a:t>.java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257" name="Google Shape;257;p18"/>
          <p:cNvSpPr txBox="1">
            <a:spLocks noGrp="1"/>
          </p:cNvSpPr>
          <p:nvPr>
            <p:ph type="subTitle" idx="1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Strings.css</a:t>
            </a:r>
            <a:endParaRPr sz="1400" dirty="0">
              <a:solidFill>
                <a:schemeClr val="accent3"/>
              </a:solidFill>
            </a:endParaRPr>
          </a:p>
        </p:txBody>
      </p:sp>
      <p:grpSp>
        <p:nvGrpSpPr>
          <p:cNvPr id="260" name="Google Shape;260;p18"/>
          <p:cNvGrpSpPr/>
          <p:nvPr/>
        </p:nvGrpSpPr>
        <p:grpSpPr>
          <a:xfrm>
            <a:off x="8344251" y="1570945"/>
            <a:ext cx="506100" cy="2956675"/>
            <a:chOff x="1413525" y="1247575"/>
            <a:chExt cx="506100" cy="2956675"/>
          </a:xfrm>
        </p:grpSpPr>
        <p:cxnSp>
          <p:nvCxnSpPr>
            <p:cNvPr id="261" name="Google Shape;261;p18"/>
            <p:cNvCxnSpPr/>
            <p:nvPr/>
          </p:nvCxnSpPr>
          <p:spPr>
            <a:xfrm>
              <a:off x="1552213" y="1247575"/>
              <a:ext cx="0" cy="22758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62" name="Google Shape;262;p18"/>
            <p:cNvSpPr txBox="1"/>
            <p:nvPr/>
          </p:nvSpPr>
          <p:spPr>
            <a:xfrm>
              <a:off x="1413525" y="3557750"/>
              <a:ext cx="5061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 dirty="0">
                  <a:solidFill>
                    <a:schemeClr val="accent3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3000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</p:grpSp>
      <p:sp>
        <p:nvSpPr>
          <p:cNvPr id="9" name="Rectangle 6">
            <a:extLst>
              <a:ext uri="{FF2B5EF4-FFF2-40B4-BE49-F238E27FC236}">
                <a16:creationId xmlns:a16="http://schemas.microsoft.com/office/drawing/2014/main" id="{050F7041-50D1-C196-4463-79F1C2CB7A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2285" y="1677128"/>
            <a:ext cx="6831962" cy="23646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eaLnBrk="0" fontAlgn="base" hangingPunct="0">
              <a:lnSpc>
                <a:spcPct val="115000"/>
              </a:lnSpc>
              <a:spcAft>
                <a:spcPts val="800"/>
              </a:spcAft>
              <a:buClr>
                <a:schemeClr val="dk2"/>
              </a:buClr>
              <a:buSzPts val="1000"/>
              <a:buFontTx/>
              <a:buChar char="•"/>
              <a:tabLst>
                <a:tab pos="457200" algn="l"/>
              </a:tabLst>
            </a:pPr>
            <a:r>
              <a:rPr lang="es-ES" sz="1600" dirty="0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Devuelve true si una cadena contiene otra.</a:t>
            </a:r>
            <a:r>
              <a:rPr lang="es-ES" sz="2000" dirty="0"/>
              <a:t>.</a:t>
            </a:r>
          </a:p>
          <a:p>
            <a:pPr marL="342900" indent="-342900" eaLnBrk="0" fontAlgn="base" hangingPunct="0">
              <a:lnSpc>
                <a:spcPct val="115000"/>
              </a:lnSpc>
              <a:spcAft>
                <a:spcPts val="800"/>
              </a:spcAft>
              <a:buClr>
                <a:schemeClr val="dk2"/>
              </a:buClr>
              <a:buSzPts val="1000"/>
              <a:buFontTx/>
              <a:buChar char="•"/>
              <a:tabLst>
                <a:tab pos="457200" algn="l"/>
              </a:tabLst>
            </a:pPr>
            <a:endParaRPr lang="es-ES" sz="1600" dirty="0">
              <a:solidFill>
                <a:schemeClr val="accent3"/>
              </a:solidFill>
              <a:latin typeface="Fira Code"/>
              <a:ea typeface="Fira Code"/>
              <a:cs typeface="Fira Code"/>
            </a:endParaRPr>
          </a:p>
          <a:p>
            <a:pPr eaLnBrk="0" fontAlgn="base" hangingPunct="0">
              <a:lnSpc>
                <a:spcPct val="115000"/>
              </a:lnSpc>
              <a:spcAft>
                <a:spcPts val="800"/>
              </a:spcAft>
              <a:buClr>
                <a:schemeClr val="dk2"/>
              </a:buClr>
              <a:buSzPts val="1000"/>
              <a:tabLst>
                <a:tab pos="457200" algn="l"/>
              </a:tabLst>
            </a:pPr>
            <a:r>
              <a:rPr lang="pt-BR" altLang="es-ES" sz="1600" dirty="0" err="1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Ejemplo</a:t>
            </a:r>
            <a:r>
              <a:rPr lang="pt-BR" altLang="es-ES" sz="1600" dirty="0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:</a:t>
            </a:r>
          </a:p>
          <a:p>
            <a:pPr eaLnBrk="0" fontAlgn="base" hangingPunct="0">
              <a:lnSpc>
                <a:spcPct val="115000"/>
              </a:lnSpc>
              <a:spcAft>
                <a:spcPts val="800"/>
              </a:spcAft>
              <a:buClr>
                <a:schemeClr val="dk2"/>
              </a:buClr>
              <a:buSzPts val="1000"/>
              <a:tabLst>
                <a:tab pos="457200" algn="l"/>
              </a:tabLst>
            </a:pPr>
            <a:r>
              <a:rPr lang="es-ES" sz="1600" dirty="0" err="1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String</a:t>
            </a:r>
            <a:r>
              <a:rPr lang="es-ES" sz="1600" dirty="0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 texto = "Programar en Java";</a:t>
            </a:r>
          </a:p>
          <a:p>
            <a:pPr eaLnBrk="0" fontAlgn="base" hangingPunct="0">
              <a:lnSpc>
                <a:spcPct val="115000"/>
              </a:lnSpc>
              <a:spcAft>
                <a:spcPts val="800"/>
              </a:spcAft>
              <a:buClr>
                <a:schemeClr val="dk2"/>
              </a:buClr>
              <a:buSzPts val="1000"/>
              <a:tabLst>
                <a:tab pos="457200" algn="l"/>
              </a:tabLst>
            </a:pPr>
            <a:r>
              <a:rPr lang="es-ES" sz="1600" dirty="0" err="1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System.out.println</a:t>
            </a:r>
            <a:r>
              <a:rPr lang="es-ES" sz="1600" dirty="0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(</a:t>
            </a:r>
            <a:r>
              <a:rPr lang="es-ES" sz="1600" dirty="0" err="1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texto.contains</a:t>
            </a:r>
            <a:r>
              <a:rPr lang="es-ES" sz="1600" dirty="0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("Java"));  // true</a:t>
            </a:r>
          </a:p>
          <a:p>
            <a:pPr eaLnBrk="0" fontAlgn="base" hangingPunct="0">
              <a:lnSpc>
                <a:spcPct val="115000"/>
              </a:lnSpc>
              <a:spcAft>
                <a:spcPts val="800"/>
              </a:spcAft>
              <a:buClr>
                <a:schemeClr val="dk2"/>
              </a:buClr>
              <a:buSzPts val="1000"/>
              <a:tabLst>
                <a:tab pos="457200" algn="l"/>
              </a:tabLst>
            </a:pPr>
            <a:r>
              <a:rPr lang="es-ES" sz="1600" dirty="0" err="1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System.out.println</a:t>
            </a:r>
            <a:r>
              <a:rPr lang="es-ES" sz="1600" dirty="0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(</a:t>
            </a:r>
            <a:r>
              <a:rPr lang="es-ES" sz="1600" dirty="0" err="1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texto.contains</a:t>
            </a:r>
            <a:r>
              <a:rPr lang="es-ES" sz="1600" dirty="0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("Python")); // false</a:t>
            </a:r>
          </a:p>
        </p:txBody>
      </p:sp>
    </p:spTree>
    <p:extLst>
      <p:ext uri="{BB962C8B-B14F-4D97-AF65-F5344CB8AC3E}">
        <p14:creationId xmlns:p14="http://schemas.microsoft.com/office/powerpoint/2010/main" val="8253383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8"/>
          <p:cNvSpPr txBox="1">
            <a:spLocks noGrp="1"/>
          </p:cNvSpPr>
          <p:nvPr>
            <p:ph type="ctrTitle"/>
          </p:nvPr>
        </p:nvSpPr>
        <p:spPr>
          <a:xfrm>
            <a:off x="1368919" y="830650"/>
            <a:ext cx="7481429" cy="5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s-ES" dirty="0" err="1">
                <a:solidFill>
                  <a:schemeClr val="accent2"/>
                </a:solidFill>
              </a:rPr>
              <a:t>equals</a:t>
            </a:r>
            <a:r>
              <a:rPr lang="es-ES" dirty="0">
                <a:solidFill>
                  <a:schemeClr val="accent2"/>
                </a:solidFill>
              </a:rPr>
              <a:t>()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254" name="Google Shape;254;p18"/>
          <p:cNvSpPr txBox="1">
            <a:spLocks noGrp="1"/>
          </p:cNvSpPr>
          <p:nvPr>
            <p:ph type="subTitle" idx="1"/>
          </p:nvPr>
        </p:nvSpPr>
        <p:spPr>
          <a:xfrm>
            <a:off x="289932" y="4694725"/>
            <a:ext cx="5285293" cy="35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1"/>
                </a:solidFill>
              </a:rPr>
              <a:t>Introducción a la programación en java</a:t>
            </a:r>
            <a:endParaRPr sz="1400" dirty="0">
              <a:solidFill>
                <a:schemeClr val="accent1"/>
              </a:solidFill>
            </a:endParaRPr>
          </a:p>
        </p:txBody>
      </p:sp>
      <p:sp>
        <p:nvSpPr>
          <p:cNvPr id="256" name="Google Shape;256;p18"/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/>
              <a:t>Módulo3</a:t>
            </a:r>
            <a:r>
              <a:rPr lang="en" sz="1400" dirty="0">
                <a:solidFill>
                  <a:schemeClr val="accent3"/>
                </a:solidFill>
              </a:rPr>
              <a:t>.java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257" name="Google Shape;257;p18"/>
          <p:cNvSpPr txBox="1">
            <a:spLocks noGrp="1"/>
          </p:cNvSpPr>
          <p:nvPr>
            <p:ph type="subTitle" idx="1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Strings.css</a:t>
            </a:r>
            <a:endParaRPr sz="1400" dirty="0">
              <a:solidFill>
                <a:schemeClr val="accent3"/>
              </a:solidFill>
            </a:endParaRPr>
          </a:p>
        </p:txBody>
      </p:sp>
      <p:grpSp>
        <p:nvGrpSpPr>
          <p:cNvPr id="260" name="Google Shape;260;p18"/>
          <p:cNvGrpSpPr/>
          <p:nvPr/>
        </p:nvGrpSpPr>
        <p:grpSpPr>
          <a:xfrm>
            <a:off x="8637900" y="1543100"/>
            <a:ext cx="506100" cy="2956675"/>
            <a:chOff x="1413525" y="1247575"/>
            <a:chExt cx="506100" cy="2956675"/>
          </a:xfrm>
        </p:grpSpPr>
        <p:cxnSp>
          <p:nvCxnSpPr>
            <p:cNvPr id="261" name="Google Shape;261;p18"/>
            <p:cNvCxnSpPr/>
            <p:nvPr/>
          </p:nvCxnSpPr>
          <p:spPr>
            <a:xfrm>
              <a:off x="1552213" y="1247575"/>
              <a:ext cx="0" cy="22758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62" name="Google Shape;262;p18"/>
            <p:cNvSpPr txBox="1"/>
            <p:nvPr/>
          </p:nvSpPr>
          <p:spPr>
            <a:xfrm>
              <a:off x="1413525" y="3557750"/>
              <a:ext cx="5061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 dirty="0">
                  <a:solidFill>
                    <a:schemeClr val="accent3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3000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</p:grpSp>
      <p:sp>
        <p:nvSpPr>
          <p:cNvPr id="9" name="Rectangle 6">
            <a:extLst>
              <a:ext uri="{FF2B5EF4-FFF2-40B4-BE49-F238E27FC236}">
                <a16:creationId xmlns:a16="http://schemas.microsoft.com/office/drawing/2014/main" id="{050F7041-50D1-C196-4463-79F1C2CB7A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2284" y="1519649"/>
            <a:ext cx="7125615" cy="26795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eaLnBrk="0" fontAlgn="base" hangingPunct="0">
              <a:lnSpc>
                <a:spcPct val="115000"/>
              </a:lnSpc>
              <a:spcAft>
                <a:spcPts val="800"/>
              </a:spcAft>
              <a:buClr>
                <a:schemeClr val="dk2"/>
              </a:buClr>
              <a:buSzPts val="1000"/>
              <a:buFontTx/>
              <a:buChar char="•"/>
              <a:tabLst>
                <a:tab pos="457200" algn="l"/>
              </a:tabLst>
            </a:pPr>
            <a:r>
              <a:rPr lang="es-ES" sz="1600" dirty="0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Compara el contenido de dos </a:t>
            </a:r>
            <a:r>
              <a:rPr lang="es-ES" sz="1600" dirty="0" err="1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Strings</a:t>
            </a:r>
            <a:endParaRPr lang="es-ES" sz="2000" dirty="0"/>
          </a:p>
          <a:p>
            <a:pPr marL="342900" indent="-342900" eaLnBrk="0" fontAlgn="base" hangingPunct="0">
              <a:lnSpc>
                <a:spcPct val="115000"/>
              </a:lnSpc>
              <a:spcAft>
                <a:spcPts val="800"/>
              </a:spcAft>
              <a:buClr>
                <a:schemeClr val="dk2"/>
              </a:buClr>
              <a:buSzPts val="1000"/>
              <a:buFontTx/>
              <a:buChar char="•"/>
              <a:tabLst>
                <a:tab pos="457200" algn="l"/>
              </a:tabLst>
            </a:pPr>
            <a:endParaRPr lang="es-ES" sz="1600" dirty="0">
              <a:solidFill>
                <a:schemeClr val="accent3"/>
              </a:solidFill>
              <a:latin typeface="Fira Code"/>
              <a:ea typeface="Fira Code"/>
              <a:cs typeface="Fira Code"/>
            </a:endParaRPr>
          </a:p>
          <a:p>
            <a:pPr eaLnBrk="0" fontAlgn="base" hangingPunct="0">
              <a:lnSpc>
                <a:spcPct val="115000"/>
              </a:lnSpc>
              <a:spcAft>
                <a:spcPts val="800"/>
              </a:spcAft>
              <a:buClr>
                <a:schemeClr val="dk2"/>
              </a:buClr>
              <a:buSzPts val="1000"/>
              <a:tabLst>
                <a:tab pos="457200" algn="l"/>
              </a:tabLst>
            </a:pPr>
            <a:r>
              <a:rPr lang="pt-BR" altLang="es-ES" sz="1600" dirty="0" err="1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Ejemplo</a:t>
            </a:r>
            <a:r>
              <a:rPr lang="pt-BR" altLang="es-ES" sz="1600" dirty="0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:</a:t>
            </a:r>
          </a:p>
          <a:p>
            <a:pPr eaLnBrk="0" fontAlgn="base" hangingPunct="0">
              <a:lnSpc>
                <a:spcPct val="115000"/>
              </a:lnSpc>
              <a:spcAft>
                <a:spcPts val="800"/>
              </a:spcAft>
              <a:buClr>
                <a:schemeClr val="dk2"/>
              </a:buClr>
              <a:buSzPts val="1000"/>
              <a:tabLst>
                <a:tab pos="457200" algn="l"/>
              </a:tabLst>
            </a:pPr>
            <a:r>
              <a:rPr lang="es-ES" sz="1600" dirty="0" err="1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String</a:t>
            </a:r>
            <a:r>
              <a:rPr lang="es-ES" sz="1600" dirty="0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 a = "Java";</a:t>
            </a:r>
          </a:p>
          <a:p>
            <a:pPr eaLnBrk="0" fontAlgn="base" hangingPunct="0">
              <a:lnSpc>
                <a:spcPct val="115000"/>
              </a:lnSpc>
              <a:spcAft>
                <a:spcPts val="800"/>
              </a:spcAft>
              <a:buClr>
                <a:schemeClr val="dk2"/>
              </a:buClr>
              <a:buSzPts val="1000"/>
              <a:tabLst>
                <a:tab pos="457200" algn="l"/>
              </a:tabLst>
            </a:pPr>
            <a:r>
              <a:rPr lang="es-ES" sz="1600" dirty="0" err="1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String</a:t>
            </a:r>
            <a:r>
              <a:rPr lang="es-ES" sz="1600" dirty="0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 b = "java";</a:t>
            </a:r>
          </a:p>
          <a:p>
            <a:pPr eaLnBrk="0" fontAlgn="base" hangingPunct="0">
              <a:lnSpc>
                <a:spcPct val="115000"/>
              </a:lnSpc>
              <a:spcAft>
                <a:spcPts val="800"/>
              </a:spcAft>
              <a:buClr>
                <a:schemeClr val="dk2"/>
              </a:buClr>
              <a:buSzPts val="1000"/>
              <a:tabLst>
                <a:tab pos="457200" algn="l"/>
              </a:tabLst>
            </a:pPr>
            <a:r>
              <a:rPr lang="es-ES" sz="1600" dirty="0" err="1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System.out.println</a:t>
            </a:r>
            <a:r>
              <a:rPr lang="es-ES" sz="1600" dirty="0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(</a:t>
            </a:r>
            <a:r>
              <a:rPr lang="es-ES" sz="1600" dirty="0" err="1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a.equals</a:t>
            </a:r>
            <a:r>
              <a:rPr lang="es-ES" sz="1600" dirty="0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(b));         // false</a:t>
            </a:r>
          </a:p>
          <a:p>
            <a:pPr eaLnBrk="0" fontAlgn="base" hangingPunct="0">
              <a:lnSpc>
                <a:spcPct val="115000"/>
              </a:lnSpc>
              <a:spcAft>
                <a:spcPts val="800"/>
              </a:spcAft>
              <a:buClr>
                <a:schemeClr val="dk2"/>
              </a:buClr>
              <a:buSzPts val="1000"/>
              <a:tabLst>
                <a:tab pos="457200" algn="l"/>
              </a:tabLst>
            </a:pPr>
            <a:r>
              <a:rPr lang="es-ES" sz="1600" dirty="0" err="1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System.out.println</a:t>
            </a:r>
            <a:r>
              <a:rPr lang="es-ES" sz="1600" dirty="0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(</a:t>
            </a:r>
            <a:r>
              <a:rPr lang="es-ES" sz="1600" dirty="0" err="1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a.equalsIgnoreCase</a:t>
            </a:r>
            <a:r>
              <a:rPr lang="es-ES" sz="1600" dirty="0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(b)); // true</a:t>
            </a:r>
          </a:p>
        </p:txBody>
      </p:sp>
    </p:spTree>
    <p:extLst>
      <p:ext uri="{BB962C8B-B14F-4D97-AF65-F5344CB8AC3E}">
        <p14:creationId xmlns:p14="http://schemas.microsoft.com/office/powerpoint/2010/main" val="920895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8"/>
          <p:cNvSpPr txBox="1">
            <a:spLocks noGrp="1"/>
          </p:cNvSpPr>
          <p:nvPr>
            <p:ph type="ctrTitle"/>
          </p:nvPr>
        </p:nvSpPr>
        <p:spPr>
          <a:xfrm>
            <a:off x="1368919" y="830650"/>
            <a:ext cx="7481429" cy="5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s-ES" dirty="0" err="1">
                <a:solidFill>
                  <a:schemeClr val="accent2"/>
                </a:solidFill>
              </a:rPr>
              <a:t>trim</a:t>
            </a:r>
            <a:r>
              <a:rPr lang="es-ES" dirty="0">
                <a:solidFill>
                  <a:schemeClr val="accent2"/>
                </a:solidFill>
              </a:rPr>
              <a:t>() / </a:t>
            </a:r>
            <a:r>
              <a:rPr lang="es-ES" dirty="0" err="1">
                <a:solidFill>
                  <a:schemeClr val="accent2"/>
                </a:solidFill>
              </a:rPr>
              <a:t>replace</a:t>
            </a:r>
            <a:r>
              <a:rPr lang="es-ES" dirty="0">
                <a:solidFill>
                  <a:schemeClr val="accent2"/>
                </a:solidFill>
              </a:rPr>
              <a:t>()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254" name="Google Shape;254;p18"/>
          <p:cNvSpPr txBox="1">
            <a:spLocks noGrp="1"/>
          </p:cNvSpPr>
          <p:nvPr>
            <p:ph type="subTitle" idx="1"/>
          </p:nvPr>
        </p:nvSpPr>
        <p:spPr>
          <a:xfrm>
            <a:off x="289932" y="4694725"/>
            <a:ext cx="5285293" cy="35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1"/>
                </a:solidFill>
              </a:rPr>
              <a:t>Introducción a la programación en java</a:t>
            </a:r>
            <a:endParaRPr sz="1400" dirty="0">
              <a:solidFill>
                <a:schemeClr val="accent1"/>
              </a:solidFill>
            </a:endParaRPr>
          </a:p>
        </p:txBody>
      </p:sp>
      <p:sp>
        <p:nvSpPr>
          <p:cNvPr id="256" name="Google Shape;256;p18"/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/>
              <a:t>Módulo3</a:t>
            </a:r>
            <a:r>
              <a:rPr lang="en" sz="1400" dirty="0">
                <a:solidFill>
                  <a:schemeClr val="accent3"/>
                </a:solidFill>
              </a:rPr>
              <a:t>.java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257" name="Google Shape;257;p18"/>
          <p:cNvSpPr txBox="1">
            <a:spLocks noGrp="1"/>
          </p:cNvSpPr>
          <p:nvPr>
            <p:ph type="subTitle" idx="1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Strings.css</a:t>
            </a:r>
            <a:endParaRPr sz="1400" dirty="0">
              <a:solidFill>
                <a:schemeClr val="accent3"/>
              </a:solidFill>
            </a:endParaRPr>
          </a:p>
        </p:txBody>
      </p:sp>
      <p:grpSp>
        <p:nvGrpSpPr>
          <p:cNvPr id="260" name="Google Shape;260;p18"/>
          <p:cNvGrpSpPr/>
          <p:nvPr/>
        </p:nvGrpSpPr>
        <p:grpSpPr>
          <a:xfrm>
            <a:off x="8637900" y="1570945"/>
            <a:ext cx="506100" cy="2956675"/>
            <a:chOff x="1413525" y="1247575"/>
            <a:chExt cx="506100" cy="2956675"/>
          </a:xfrm>
        </p:grpSpPr>
        <p:cxnSp>
          <p:nvCxnSpPr>
            <p:cNvPr id="261" name="Google Shape;261;p18"/>
            <p:cNvCxnSpPr/>
            <p:nvPr/>
          </p:nvCxnSpPr>
          <p:spPr>
            <a:xfrm>
              <a:off x="1552213" y="1247575"/>
              <a:ext cx="0" cy="22758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62" name="Google Shape;262;p18"/>
            <p:cNvSpPr txBox="1"/>
            <p:nvPr/>
          </p:nvSpPr>
          <p:spPr>
            <a:xfrm>
              <a:off x="1413525" y="3557750"/>
              <a:ext cx="5061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 dirty="0">
                  <a:solidFill>
                    <a:schemeClr val="accent3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3000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</p:grpSp>
      <p:sp>
        <p:nvSpPr>
          <p:cNvPr id="9" name="Rectangle 6">
            <a:extLst>
              <a:ext uri="{FF2B5EF4-FFF2-40B4-BE49-F238E27FC236}">
                <a16:creationId xmlns:a16="http://schemas.microsoft.com/office/drawing/2014/main" id="{050F7041-50D1-C196-4463-79F1C2CB7A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6472" y="1378072"/>
            <a:ext cx="7481428" cy="2962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eaLnBrk="0" fontAlgn="base" hangingPunct="0">
              <a:lnSpc>
                <a:spcPct val="115000"/>
              </a:lnSpc>
              <a:spcAft>
                <a:spcPts val="800"/>
              </a:spcAft>
              <a:buClr>
                <a:schemeClr val="dk2"/>
              </a:buClr>
              <a:buSzPts val="1000"/>
              <a:buFontTx/>
              <a:buChar char="•"/>
              <a:tabLst>
                <a:tab pos="457200" algn="l"/>
              </a:tabLst>
            </a:pPr>
            <a:r>
              <a:rPr lang="es-ES" sz="1600" dirty="0" err="1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Trim</a:t>
            </a:r>
            <a:r>
              <a:rPr lang="es-ES" sz="1600" dirty="0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() </a:t>
            </a:r>
            <a:r>
              <a:rPr lang="es-ES" sz="1600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Wingdings" panose="05000000000000000000" pitchFamily="2" charset="2"/>
              </a:rPr>
              <a:t> </a:t>
            </a:r>
            <a:r>
              <a:rPr lang="es-ES" sz="1600" dirty="0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elimina espacios al inicio y al final</a:t>
            </a:r>
          </a:p>
          <a:p>
            <a:pPr marL="342900" indent="-342900" eaLnBrk="0" fontAlgn="base" hangingPunct="0">
              <a:lnSpc>
                <a:spcPct val="115000"/>
              </a:lnSpc>
              <a:spcAft>
                <a:spcPts val="800"/>
              </a:spcAft>
              <a:buClr>
                <a:schemeClr val="dk2"/>
              </a:buClr>
              <a:buSzPts val="1000"/>
              <a:buFontTx/>
              <a:buChar char="•"/>
              <a:tabLst>
                <a:tab pos="457200" algn="l"/>
              </a:tabLst>
            </a:pPr>
            <a:r>
              <a:rPr lang="es-ES" sz="1600" dirty="0" err="1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Replace</a:t>
            </a:r>
            <a:r>
              <a:rPr lang="es-ES" sz="1600" dirty="0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() </a:t>
            </a:r>
            <a:r>
              <a:rPr lang="es-ES" sz="1600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Wingdings" panose="05000000000000000000" pitchFamily="2" charset="2"/>
              </a:rPr>
              <a:t> sustituye un carácter o texto por otro</a:t>
            </a:r>
          </a:p>
          <a:p>
            <a:pPr marL="342900" indent="-342900" eaLnBrk="0" fontAlgn="base" hangingPunct="0">
              <a:lnSpc>
                <a:spcPct val="115000"/>
              </a:lnSpc>
              <a:spcAft>
                <a:spcPts val="800"/>
              </a:spcAft>
              <a:buClr>
                <a:schemeClr val="dk2"/>
              </a:buClr>
              <a:buSzPts val="1000"/>
              <a:buFontTx/>
              <a:buChar char="•"/>
              <a:tabLst>
                <a:tab pos="457200" algn="l"/>
              </a:tabLst>
            </a:pPr>
            <a:endParaRPr lang="es-ES" sz="1600" dirty="0">
              <a:solidFill>
                <a:schemeClr val="accent3"/>
              </a:solidFill>
              <a:latin typeface="Fira Code"/>
              <a:ea typeface="Fira Code"/>
              <a:cs typeface="Fira Code"/>
            </a:endParaRPr>
          </a:p>
          <a:p>
            <a:pPr eaLnBrk="0" fontAlgn="base" hangingPunct="0">
              <a:lnSpc>
                <a:spcPct val="115000"/>
              </a:lnSpc>
              <a:spcAft>
                <a:spcPts val="800"/>
              </a:spcAft>
              <a:buClr>
                <a:schemeClr val="dk2"/>
              </a:buClr>
              <a:buSzPts val="1000"/>
              <a:tabLst>
                <a:tab pos="457200" algn="l"/>
              </a:tabLst>
            </a:pPr>
            <a:r>
              <a:rPr lang="pt-BR" altLang="es-ES" sz="1600" dirty="0" err="1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Ejemplo</a:t>
            </a:r>
            <a:r>
              <a:rPr lang="pt-BR" altLang="es-ES" sz="1600" dirty="0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:</a:t>
            </a:r>
          </a:p>
          <a:p>
            <a:pPr eaLnBrk="0" fontAlgn="base" hangingPunct="0">
              <a:lnSpc>
                <a:spcPct val="115000"/>
              </a:lnSpc>
              <a:spcAft>
                <a:spcPts val="800"/>
              </a:spcAft>
              <a:buClr>
                <a:schemeClr val="dk2"/>
              </a:buClr>
              <a:buSzPts val="1000"/>
              <a:tabLst>
                <a:tab pos="457200" algn="l"/>
              </a:tabLst>
            </a:pPr>
            <a:r>
              <a:rPr lang="es-ES" sz="1600" dirty="0" err="1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String</a:t>
            </a:r>
            <a:r>
              <a:rPr lang="es-ES" sz="1600" dirty="0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 texto = "  Hola Mundo  ";</a:t>
            </a:r>
          </a:p>
          <a:p>
            <a:pPr eaLnBrk="0" fontAlgn="base" hangingPunct="0">
              <a:lnSpc>
                <a:spcPct val="115000"/>
              </a:lnSpc>
              <a:spcAft>
                <a:spcPts val="800"/>
              </a:spcAft>
              <a:buClr>
                <a:schemeClr val="dk2"/>
              </a:buClr>
              <a:buSzPts val="1000"/>
              <a:tabLst>
                <a:tab pos="457200" algn="l"/>
              </a:tabLst>
            </a:pPr>
            <a:r>
              <a:rPr lang="es-ES" sz="1600" dirty="0" err="1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System.out.println</a:t>
            </a:r>
            <a:r>
              <a:rPr lang="es-ES" sz="1600" dirty="0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(</a:t>
            </a:r>
            <a:r>
              <a:rPr lang="es-ES" sz="1600" dirty="0" err="1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texto.trim</a:t>
            </a:r>
            <a:r>
              <a:rPr lang="es-ES" sz="1600" dirty="0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());     // "Hola Mundo"</a:t>
            </a:r>
          </a:p>
          <a:p>
            <a:pPr eaLnBrk="0" fontAlgn="base" hangingPunct="0">
              <a:lnSpc>
                <a:spcPct val="115000"/>
              </a:lnSpc>
              <a:spcAft>
                <a:spcPts val="800"/>
              </a:spcAft>
              <a:buClr>
                <a:schemeClr val="dk2"/>
              </a:buClr>
              <a:buSzPts val="1000"/>
              <a:tabLst>
                <a:tab pos="457200" algn="l"/>
              </a:tabLst>
            </a:pPr>
            <a:r>
              <a:rPr lang="es-ES" sz="1600" dirty="0" err="1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System.out.println</a:t>
            </a:r>
            <a:r>
              <a:rPr lang="es-ES" sz="1600" dirty="0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(</a:t>
            </a:r>
            <a:r>
              <a:rPr lang="es-ES" sz="1600" dirty="0" err="1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texto.replace</a:t>
            </a:r>
            <a:r>
              <a:rPr lang="es-ES" sz="1600" dirty="0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("Mundo", "Java")); // "  Hola Java  "</a:t>
            </a:r>
          </a:p>
        </p:txBody>
      </p:sp>
    </p:spTree>
    <p:extLst>
      <p:ext uri="{BB962C8B-B14F-4D97-AF65-F5344CB8AC3E}">
        <p14:creationId xmlns:p14="http://schemas.microsoft.com/office/powerpoint/2010/main" val="20167964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8"/>
          <p:cNvSpPr txBox="1">
            <a:spLocks noGrp="1"/>
          </p:cNvSpPr>
          <p:nvPr>
            <p:ph type="ctrTitle"/>
          </p:nvPr>
        </p:nvSpPr>
        <p:spPr>
          <a:xfrm>
            <a:off x="1368919" y="830650"/>
            <a:ext cx="7481429" cy="5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s-ES" dirty="0" err="1">
                <a:solidFill>
                  <a:schemeClr val="accent2"/>
                </a:solidFill>
              </a:rPr>
              <a:t>format</a:t>
            </a:r>
            <a:r>
              <a:rPr lang="es-ES" dirty="0">
                <a:solidFill>
                  <a:schemeClr val="accent2"/>
                </a:solidFill>
              </a:rPr>
              <a:t>()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254" name="Google Shape;254;p18"/>
          <p:cNvSpPr txBox="1">
            <a:spLocks noGrp="1"/>
          </p:cNvSpPr>
          <p:nvPr>
            <p:ph type="subTitle" idx="1"/>
          </p:nvPr>
        </p:nvSpPr>
        <p:spPr>
          <a:xfrm>
            <a:off x="289932" y="4694725"/>
            <a:ext cx="5285293" cy="35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1"/>
                </a:solidFill>
              </a:rPr>
              <a:t>Introducción a la programación en java</a:t>
            </a:r>
            <a:endParaRPr sz="1400" dirty="0">
              <a:solidFill>
                <a:schemeClr val="accent1"/>
              </a:solidFill>
            </a:endParaRPr>
          </a:p>
        </p:txBody>
      </p:sp>
      <p:sp>
        <p:nvSpPr>
          <p:cNvPr id="256" name="Google Shape;256;p18"/>
          <p:cNvSpPr txBox="1">
            <a:spLocks noGrp="1"/>
          </p:cNvSpPr>
          <p:nvPr>
            <p:ph type="subTitle" idx="2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/>
              <a:t>Módulo3</a:t>
            </a:r>
            <a:r>
              <a:rPr lang="en" sz="1400" dirty="0">
                <a:solidFill>
                  <a:schemeClr val="accent3"/>
                </a:solidFill>
              </a:rPr>
              <a:t>.java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257" name="Google Shape;257;p18"/>
          <p:cNvSpPr txBox="1">
            <a:spLocks noGrp="1"/>
          </p:cNvSpPr>
          <p:nvPr>
            <p:ph type="subTitle" idx="3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Strings.css</a:t>
            </a:r>
            <a:endParaRPr sz="1400" dirty="0">
              <a:solidFill>
                <a:schemeClr val="accent3"/>
              </a:solidFill>
            </a:endParaRPr>
          </a:p>
        </p:txBody>
      </p:sp>
      <p:grpSp>
        <p:nvGrpSpPr>
          <p:cNvPr id="260" name="Google Shape;260;p18"/>
          <p:cNvGrpSpPr/>
          <p:nvPr/>
        </p:nvGrpSpPr>
        <p:grpSpPr>
          <a:xfrm>
            <a:off x="8637900" y="1570945"/>
            <a:ext cx="506100" cy="2956675"/>
            <a:chOff x="1413525" y="1247575"/>
            <a:chExt cx="506100" cy="2956675"/>
          </a:xfrm>
        </p:grpSpPr>
        <p:cxnSp>
          <p:nvCxnSpPr>
            <p:cNvPr id="261" name="Google Shape;261;p18"/>
            <p:cNvCxnSpPr/>
            <p:nvPr/>
          </p:nvCxnSpPr>
          <p:spPr>
            <a:xfrm>
              <a:off x="1552213" y="1247575"/>
              <a:ext cx="0" cy="22758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62" name="Google Shape;262;p18"/>
            <p:cNvSpPr txBox="1"/>
            <p:nvPr/>
          </p:nvSpPr>
          <p:spPr>
            <a:xfrm>
              <a:off x="1413525" y="3557750"/>
              <a:ext cx="5061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 dirty="0">
                  <a:solidFill>
                    <a:schemeClr val="accent3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3000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</p:grpSp>
      <p:sp>
        <p:nvSpPr>
          <p:cNvPr id="9" name="Rectangle 6">
            <a:extLst>
              <a:ext uri="{FF2B5EF4-FFF2-40B4-BE49-F238E27FC236}">
                <a16:creationId xmlns:a16="http://schemas.microsoft.com/office/drawing/2014/main" id="{050F7041-50D1-C196-4463-79F1C2CB7A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6472" y="1236495"/>
            <a:ext cx="7481428" cy="32458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eaLnBrk="0" fontAlgn="base" hangingPunct="0">
              <a:lnSpc>
                <a:spcPct val="115000"/>
              </a:lnSpc>
              <a:spcAft>
                <a:spcPts val="800"/>
              </a:spcAft>
              <a:buClr>
                <a:schemeClr val="dk2"/>
              </a:buClr>
              <a:buSzPts val="1000"/>
              <a:buFontTx/>
              <a:buChar char="•"/>
              <a:tabLst>
                <a:tab pos="457200" algn="l"/>
              </a:tabLst>
            </a:pPr>
            <a:r>
              <a:rPr lang="es-ES" sz="1600" dirty="0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Permite insertar valores dentro de un texto usando marcadores.</a:t>
            </a:r>
          </a:p>
          <a:p>
            <a:pPr marL="342900" indent="-342900" eaLnBrk="0" fontAlgn="base" hangingPunct="0">
              <a:lnSpc>
                <a:spcPct val="115000"/>
              </a:lnSpc>
              <a:spcAft>
                <a:spcPts val="800"/>
              </a:spcAft>
              <a:buClr>
                <a:schemeClr val="dk2"/>
              </a:buClr>
              <a:buSzPts val="1000"/>
              <a:buFontTx/>
              <a:buChar char="•"/>
              <a:tabLst>
                <a:tab pos="457200" algn="l"/>
              </a:tabLst>
            </a:pPr>
            <a:endParaRPr lang="es-ES" sz="1600" dirty="0">
              <a:solidFill>
                <a:schemeClr val="accent3"/>
              </a:solidFill>
              <a:latin typeface="Fira Code"/>
              <a:ea typeface="Fira Code"/>
              <a:cs typeface="Fira Code"/>
            </a:endParaRPr>
          </a:p>
          <a:p>
            <a:pPr eaLnBrk="0" fontAlgn="base" hangingPunct="0">
              <a:lnSpc>
                <a:spcPct val="115000"/>
              </a:lnSpc>
              <a:spcAft>
                <a:spcPts val="800"/>
              </a:spcAft>
              <a:buClr>
                <a:schemeClr val="dk2"/>
              </a:buClr>
              <a:buSzPts val="1000"/>
              <a:tabLst>
                <a:tab pos="457200" algn="l"/>
              </a:tabLst>
            </a:pPr>
            <a:r>
              <a:rPr lang="pt-BR" altLang="es-ES" sz="1600" dirty="0" err="1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Ejemplo</a:t>
            </a:r>
            <a:r>
              <a:rPr lang="pt-BR" altLang="es-ES" sz="1600" dirty="0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:</a:t>
            </a:r>
          </a:p>
          <a:p>
            <a:pPr eaLnBrk="0" fontAlgn="base" hangingPunct="0">
              <a:lnSpc>
                <a:spcPct val="115000"/>
              </a:lnSpc>
              <a:spcAft>
                <a:spcPts val="800"/>
              </a:spcAft>
              <a:buClr>
                <a:schemeClr val="dk2"/>
              </a:buClr>
              <a:buSzPts val="1000"/>
              <a:tabLst>
                <a:tab pos="457200" algn="l"/>
              </a:tabLst>
            </a:pPr>
            <a:r>
              <a:rPr lang="es-ES" sz="1600" dirty="0" err="1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String</a:t>
            </a:r>
            <a:r>
              <a:rPr lang="es-ES" sz="1600" dirty="0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 nombre = “Josu";</a:t>
            </a:r>
          </a:p>
          <a:p>
            <a:pPr eaLnBrk="0" fontAlgn="base" hangingPunct="0">
              <a:lnSpc>
                <a:spcPct val="115000"/>
              </a:lnSpc>
              <a:spcAft>
                <a:spcPts val="800"/>
              </a:spcAft>
              <a:buClr>
                <a:schemeClr val="dk2"/>
              </a:buClr>
              <a:buSzPts val="1000"/>
              <a:tabLst>
                <a:tab pos="457200" algn="l"/>
              </a:tabLst>
            </a:pPr>
            <a:r>
              <a:rPr lang="es-ES" sz="1600" dirty="0" err="1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int</a:t>
            </a:r>
            <a:r>
              <a:rPr lang="es-ES" sz="1600" dirty="0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 edad = 39;</a:t>
            </a:r>
          </a:p>
          <a:p>
            <a:pPr eaLnBrk="0" fontAlgn="base" hangingPunct="0">
              <a:lnSpc>
                <a:spcPct val="115000"/>
              </a:lnSpc>
              <a:spcAft>
                <a:spcPts val="800"/>
              </a:spcAft>
              <a:buClr>
                <a:schemeClr val="dk2"/>
              </a:buClr>
              <a:buSzPts val="1000"/>
              <a:tabLst>
                <a:tab pos="457200" algn="l"/>
              </a:tabLst>
            </a:pPr>
            <a:r>
              <a:rPr lang="es-ES" sz="1600" dirty="0" err="1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String</a:t>
            </a:r>
            <a:r>
              <a:rPr lang="es-ES" sz="1600" dirty="0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 mensaje = </a:t>
            </a:r>
            <a:r>
              <a:rPr lang="es-ES" sz="1600" dirty="0" err="1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String.format</a:t>
            </a:r>
            <a:r>
              <a:rPr lang="es-ES" sz="1600" dirty="0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("Hola %s, tienes %d años", nombre, edad);</a:t>
            </a:r>
          </a:p>
          <a:p>
            <a:pPr eaLnBrk="0" fontAlgn="base" hangingPunct="0">
              <a:lnSpc>
                <a:spcPct val="115000"/>
              </a:lnSpc>
              <a:spcAft>
                <a:spcPts val="800"/>
              </a:spcAft>
              <a:buClr>
                <a:schemeClr val="dk2"/>
              </a:buClr>
              <a:buSzPts val="1000"/>
              <a:tabLst>
                <a:tab pos="457200" algn="l"/>
              </a:tabLst>
            </a:pPr>
            <a:r>
              <a:rPr lang="es-ES" sz="1600" dirty="0" err="1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System.out.println</a:t>
            </a:r>
            <a:r>
              <a:rPr lang="es-ES" sz="1600" dirty="0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(mensaje); // </a:t>
            </a:r>
            <a:r>
              <a:rPr lang="es-ES" sz="1600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Hola Josu, tienes 39 </a:t>
            </a:r>
            <a:r>
              <a:rPr lang="es-ES" sz="1600" dirty="0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años</a:t>
            </a:r>
          </a:p>
        </p:txBody>
      </p:sp>
    </p:spTree>
    <p:extLst>
      <p:ext uri="{BB962C8B-B14F-4D97-AF65-F5344CB8AC3E}">
        <p14:creationId xmlns:p14="http://schemas.microsoft.com/office/powerpoint/2010/main" val="1053713126"/>
      </p:ext>
    </p:extLst>
  </p:cSld>
  <p:clrMapOvr>
    <a:overrideClrMapping bg1="lt1" tx1="dk1" bg2="dk2" tx2="lt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8"/>
          <p:cNvSpPr txBox="1">
            <a:spLocks noGrp="1"/>
          </p:cNvSpPr>
          <p:nvPr>
            <p:ph type="ctrTitle"/>
          </p:nvPr>
        </p:nvSpPr>
        <p:spPr>
          <a:xfrm>
            <a:off x="3596457" y="2365338"/>
            <a:ext cx="2353406" cy="5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PRÁCTICA</a:t>
            </a:r>
            <a:endParaRPr dirty="0">
              <a:solidFill>
                <a:schemeClr val="accent3"/>
              </a:solidFill>
            </a:endParaRPr>
          </a:p>
        </p:txBody>
      </p:sp>
      <p:sp>
        <p:nvSpPr>
          <p:cNvPr id="254" name="Google Shape;254;p18"/>
          <p:cNvSpPr txBox="1">
            <a:spLocks noGrp="1"/>
          </p:cNvSpPr>
          <p:nvPr>
            <p:ph type="subTitle" idx="1"/>
          </p:nvPr>
        </p:nvSpPr>
        <p:spPr>
          <a:xfrm>
            <a:off x="289932" y="4694725"/>
            <a:ext cx="5285293" cy="35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1"/>
                </a:solidFill>
              </a:rPr>
              <a:t>Introducción a la programación en java</a:t>
            </a:r>
            <a:endParaRPr sz="1400" dirty="0">
              <a:solidFill>
                <a:schemeClr val="accent1"/>
              </a:solidFill>
            </a:endParaRPr>
          </a:p>
        </p:txBody>
      </p:sp>
      <p:sp>
        <p:nvSpPr>
          <p:cNvPr id="256" name="Google Shape;256;p18"/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/>
              <a:t>Módulo3</a:t>
            </a:r>
            <a:r>
              <a:rPr lang="en" sz="1400" dirty="0">
                <a:solidFill>
                  <a:schemeClr val="accent3"/>
                </a:solidFill>
              </a:rPr>
              <a:t>.java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257" name="Google Shape;257;p18"/>
          <p:cNvSpPr txBox="1">
            <a:spLocks noGrp="1"/>
          </p:cNvSpPr>
          <p:nvPr>
            <p:ph type="subTitle" idx="1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/>
              <a:t>Strings</a:t>
            </a:r>
            <a:r>
              <a:rPr lang="en" sz="1400" dirty="0">
                <a:solidFill>
                  <a:schemeClr val="accent3"/>
                </a:solidFill>
              </a:rPr>
              <a:t>.css</a:t>
            </a:r>
            <a:endParaRPr sz="1400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98329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8"/>
          <p:cNvSpPr txBox="1">
            <a:spLocks noGrp="1"/>
          </p:cNvSpPr>
          <p:nvPr>
            <p:ph type="ctrTitle"/>
          </p:nvPr>
        </p:nvSpPr>
        <p:spPr>
          <a:xfrm>
            <a:off x="1212803" y="688004"/>
            <a:ext cx="6362591" cy="5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</a:rPr>
              <a:t>Quiz </a:t>
            </a:r>
            <a:r>
              <a:rPr lang="en" dirty="0">
                <a:solidFill>
                  <a:schemeClr val="accent3"/>
                </a:solidFill>
              </a:rPr>
              <a:t>{</a:t>
            </a:r>
            <a:endParaRPr dirty="0">
              <a:solidFill>
                <a:schemeClr val="accent3"/>
              </a:solidFill>
            </a:endParaRPr>
          </a:p>
        </p:txBody>
      </p:sp>
      <p:sp>
        <p:nvSpPr>
          <p:cNvPr id="254" name="Google Shape;254;p18"/>
          <p:cNvSpPr txBox="1">
            <a:spLocks noGrp="1"/>
          </p:cNvSpPr>
          <p:nvPr>
            <p:ph type="subTitle" idx="1"/>
          </p:nvPr>
        </p:nvSpPr>
        <p:spPr>
          <a:xfrm>
            <a:off x="289932" y="4694725"/>
            <a:ext cx="5285293" cy="35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1"/>
                </a:solidFill>
              </a:rPr>
              <a:t>Introducción a la programación en java</a:t>
            </a:r>
            <a:endParaRPr sz="1400" dirty="0">
              <a:solidFill>
                <a:schemeClr val="accent1"/>
              </a:solidFill>
            </a:endParaRPr>
          </a:p>
        </p:txBody>
      </p:sp>
      <p:sp>
        <p:nvSpPr>
          <p:cNvPr id="256" name="Google Shape;256;p18"/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/>
              <a:t>Módulo3</a:t>
            </a:r>
            <a:r>
              <a:rPr lang="en" sz="1400" dirty="0">
                <a:solidFill>
                  <a:schemeClr val="accent3"/>
                </a:solidFill>
              </a:rPr>
              <a:t>.java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257" name="Google Shape;257;p18"/>
          <p:cNvSpPr txBox="1">
            <a:spLocks noGrp="1"/>
          </p:cNvSpPr>
          <p:nvPr>
            <p:ph type="subTitle" idx="1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Strings.css</a:t>
            </a:r>
            <a:endParaRPr sz="1400" dirty="0">
              <a:solidFill>
                <a:schemeClr val="accent3"/>
              </a:solidFill>
            </a:endParaRPr>
          </a:p>
        </p:txBody>
      </p:sp>
      <p:grpSp>
        <p:nvGrpSpPr>
          <p:cNvPr id="260" name="Google Shape;260;p18"/>
          <p:cNvGrpSpPr/>
          <p:nvPr/>
        </p:nvGrpSpPr>
        <p:grpSpPr>
          <a:xfrm>
            <a:off x="8641787" y="1916700"/>
            <a:ext cx="506100" cy="2956675"/>
            <a:chOff x="1413525" y="1247575"/>
            <a:chExt cx="506100" cy="2956675"/>
          </a:xfrm>
        </p:grpSpPr>
        <p:cxnSp>
          <p:nvCxnSpPr>
            <p:cNvPr id="261" name="Google Shape;261;p18"/>
            <p:cNvCxnSpPr/>
            <p:nvPr/>
          </p:nvCxnSpPr>
          <p:spPr>
            <a:xfrm>
              <a:off x="1552213" y="1247575"/>
              <a:ext cx="0" cy="22758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62" name="Google Shape;262;p18"/>
            <p:cNvSpPr txBox="1"/>
            <p:nvPr/>
          </p:nvSpPr>
          <p:spPr>
            <a:xfrm>
              <a:off x="1413525" y="3557750"/>
              <a:ext cx="5061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 dirty="0">
                  <a:solidFill>
                    <a:schemeClr val="accent3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3000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</p:grpSp>
      <p:pic>
        <p:nvPicPr>
          <p:cNvPr id="1026" name="Picture 2" descr="Imágenes de Quiz - Descarga gratuita en Freepik">
            <a:extLst>
              <a:ext uri="{FF2B5EF4-FFF2-40B4-BE49-F238E27FC236}">
                <a16:creationId xmlns:a16="http://schemas.microsoft.com/office/drawing/2014/main" id="{5ACABE33-0C5E-8520-0B1D-DD3565ED0E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7188" y="1828083"/>
            <a:ext cx="4657593" cy="18921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26355231"/>
      </p:ext>
    </p:extLst>
  </p:cSld>
  <p:clrMapOvr>
    <a:masterClrMapping/>
  </p:clrMapOvr>
</p:sld>
</file>

<file path=ppt/theme/theme1.xml><?xml version="1.0" encoding="utf-8"?>
<a:theme xmlns:a="http://schemas.openxmlformats.org/drawingml/2006/main" name="Programming Language Workshop for Beginners by Slidesgo">
  <a:themeElements>
    <a:clrScheme name="Simple Light">
      <a:dk1>
        <a:srgbClr val="2E323B"/>
      </a:dk1>
      <a:lt1>
        <a:srgbClr val="FF5858"/>
      </a:lt1>
      <a:dk2>
        <a:srgbClr val="72D9F0"/>
      </a:dk2>
      <a:lt2>
        <a:srgbClr val="FCC642"/>
      </a:lt2>
      <a:accent1>
        <a:srgbClr val="DBA0DB"/>
      </a:accent1>
      <a:accent2>
        <a:srgbClr val="A5CF27"/>
      </a:accent2>
      <a:accent3>
        <a:srgbClr val="E7E7E7"/>
      </a:accent3>
      <a:accent4>
        <a:srgbClr val="707070"/>
      </a:accent4>
      <a:accent5>
        <a:srgbClr val="16191F"/>
      </a:accent5>
      <a:accent6>
        <a:srgbClr val="FFFFFF"/>
      </a:accent6>
      <a:hlink>
        <a:srgbClr val="FF585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Simple Light">
    <a:dk1>
      <a:srgbClr val="2E323B"/>
    </a:dk1>
    <a:lt1>
      <a:srgbClr val="FF5858"/>
    </a:lt1>
    <a:dk2>
      <a:srgbClr val="72D9F0"/>
    </a:dk2>
    <a:lt2>
      <a:srgbClr val="FCC642"/>
    </a:lt2>
    <a:accent1>
      <a:srgbClr val="DBA0DB"/>
    </a:accent1>
    <a:accent2>
      <a:srgbClr val="A5CF27"/>
    </a:accent2>
    <a:accent3>
      <a:srgbClr val="E7E7E7"/>
    </a:accent3>
    <a:accent4>
      <a:srgbClr val="707070"/>
    </a:accent4>
    <a:accent5>
      <a:srgbClr val="16191F"/>
    </a:accent5>
    <a:accent6>
      <a:srgbClr val="FFFFFF"/>
    </a:accent6>
    <a:hlink>
      <a:srgbClr val="FF5858"/>
    </a:hlink>
    <a:folHlink>
      <a:srgbClr val="0097A7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339</TotalTime>
  <Words>630</Words>
  <Application>Microsoft Office PowerPoint</Application>
  <PresentationFormat>Presentación en pantalla (16:9)</PresentationFormat>
  <Paragraphs>131</Paragraphs>
  <Slides>14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20" baseType="lpstr">
      <vt:lpstr>Symbol</vt:lpstr>
      <vt:lpstr>Courier New</vt:lpstr>
      <vt:lpstr>Arial</vt:lpstr>
      <vt:lpstr>Fira Code</vt:lpstr>
      <vt:lpstr>Wingdings</vt:lpstr>
      <vt:lpstr>Programming Language Workshop for Beginners by Slidesgo</vt:lpstr>
      <vt:lpstr>STRINGS</vt:lpstr>
      <vt:lpstr>¿Qué aprenderemos? {</vt:lpstr>
      <vt:lpstr>Clase String {</vt:lpstr>
      <vt:lpstr>Concatenación {</vt:lpstr>
      <vt:lpstr>length() {</vt:lpstr>
      <vt:lpstr>charAt() {</vt:lpstr>
      <vt:lpstr>substring(){</vt:lpstr>
      <vt:lpstr>toUpperCase() / toLowerCase()</vt:lpstr>
      <vt:lpstr>contains()</vt:lpstr>
      <vt:lpstr>equals()</vt:lpstr>
      <vt:lpstr>trim() / replace()</vt:lpstr>
      <vt:lpstr>format()</vt:lpstr>
      <vt:lpstr>PRÁCTICA</vt:lpstr>
      <vt:lpstr>Quiz {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Josu Motoso</dc:creator>
  <cp:lastModifiedBy>Josu Motoso</cp:lastModifiedBy>
  <cp:revision>14</cp:revision>
  <dcterms:modified xsi:type="dcterms:W3CDTF">2025-11-06T18:44:18Z</dcterms:modified>
</cp:coreProperties>
</file>