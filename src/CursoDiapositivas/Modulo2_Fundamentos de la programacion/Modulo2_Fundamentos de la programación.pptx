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4"/>
  </p:notesMasterIdLst>
  <p:sldIdLst>
    <p:sldId id="314" r:id="rId2"/>
    <p:sldId id="256" r:id="rId3"/>
    <p:sldId id="294" r:id="rId4"/>
    <p:sldId id="295" r:id="rId5"/>
    <p:sldId id="313" r:id="rId6"/>
    <p:sldId id="306" r:id="rId7"/>
    <p:sldId id="307" r:id="rId8"/>
    <p:sldId id="309" r:id="rId9"/>
    <p:sldId id="308" r:id="rId10"/>
    <p:sldId id="310" r:id="rId11"/>
    <p:sldId id="312" r:id="rId12"/>
    <p:sldId id="31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56259" autoAdjust="0"/>
  </p:normalViewPr>
  <p:slideViewPr>
    <p:cSldViewPr snapToGrid="0">
      <p:cViewPr varScale="1">
        <p:scale>
          <a:sx n="61" d="100"/>
          <a:sy n="61" d="100"/>
        </p:scale>
        <p:origin x="2074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Tipos de datos</a:t>
            </a:r>
          </a:p>
          <a:p>
            <a:r>
              <a:rPr lang="es-ES" b="1" dirty="0"/>
              <a:t>Enteros (</a:t>
            </a:r>
            <a:r>
              <a:rPr lang="es-ES" b="1" dirty="0" err="1"/>
              <a:t>int</a:t>
            </a:r>
            <a:r>
              <a:rPr lang="es-ES" b="1" dirty="0"/>
              <a:t>)</a:t>
            </a:r>
            <a:r>
              <a:rPr lang="es-ES" dirty="0"/>
              <a:t> → Números sin decimales</a:t>
            </a:r>
          </a:p>
          <a:p>
            <a:r>
              <a:rPr lang="es-ES" b="1" dirty="0"/>
              <a:t>Reales (</a:t>
            </a:r>
            <a:r>
              <a:rPr lang="es-ES" b="1" dirty="0" err="1"/>
              <a:t>float</a:t>
            </a:r>
            <a:r>
              <a:rPr lang="es-ES" b="1" dirty="0"/>
              <a:t> / </a:t>
            </a:r>
            <a:r>
              <a:rPr lang="es-ES" b="1" dirty="0" err="1"/>
              <a:t>double</a:t>
            </a:r>
            <a:r>
              <a:rPr lang="es-ES" b="1" dirty="0"/>
              <a:t>)</a:t>
            </a:r>
            <a:r>
              <a:rPr lang="es-ES" dirty="0"/>
              <a:t> → Números con decimales</a:t>
            </a:r>
          </a:p>
          <a:p>
            <a:r>
              <a:rPr lang="es-ES" b="1" dirty="0"/>
              <a:t>Caracteres (</a:t>
            </a:r>
            <a:r>
              <a:rPr lang="es-ES" b="1" dirty="0" err="1"/>
              <a:t>char</a:t>
            </a:r>
            <a:r>
              <a:rPr lang="es-ES" b="1" dirty="0"/>
              <a:t>)</a:t>
            </a:r>
            <a:r>
              <a:rPr lang="es-ES" dirty="0"/>
              <a:t> → Letras o símbolos</a:t>
            </a:r>
          </a:p>
          <a:p>
            <a:r>
              <a:rPr lang="es-ES" b="1" dirty="0"/>
              <a:t>Cadenas (</a:t>
            </a:r>
            <a:r>
              <a:rPr lang="es-ES" b="1" dirty="0" err="1"/>
              <a:t>string</a:t>
            </a:r>
            <a:r>
              <a:rPr lang="es-ES" b="1" dirty="0"/>
              <a:t>)</a:t>
            </a:r>
            <a:r>
              <a:rPr lang="es-ES" dirty="0"/>
              <a:t> → Conjunto de caracteres</a:t>
            </a:r>
          </a:p>
          <a:p>
            <a:r>
              <a:rPr lang="es-ES" b="1" dirty="0"/>
              <a:t>Booleanos (</a:t>
            </a:r>
            <a:r>
              <a:rPr lang="es-ES" b="1" dirty="0" err="1"/>
              <a:t>bool</a:t>
            </a:r>
            <a:r>
              <a:rPr lang="es-ES" b="1" dirty="0"/>
              <a:t>)</a:t>
            </a:r>
            <a:r>
              <a:rPr lang="es-ES" dirty="0"/>
              <a:t> → Verdadero o falso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Entrar en IDE y crear una clase: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s-ES" dirty="0"/>
              <a:t>Crear diferentes tipos de variables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s-ES" dirty="0"/>
              <a:t>Modificar las variables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s-ES" dirty="0"/>
              <a:t>Forzar errores cuando no son del mismo tipo </a:t>
            </a:r>
            <a:r>
              <a:rPr lang="es-ES" dirty="0">
                <a:sym typeface="Wingdings" panose="05000000000000000000" pitchFamily="2" charset="2"/>
              </a:rPr>
              <a:t> tipado estático</a:t>
            </a:r>
            <a:endParaRPr lang="es-E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s-ES" dirty="0"/>
              <a:t>Crear constantes </a:t>
            </a:r>
            <a:r>
              <a:rPr lang="es-ES" dirty="0">
                <a:sym typeface="Wingdings" panose="05000000000000000000" pitchFamily="2" charset="2"/>
              </a:rPr>
              <a:t> no se puede reasignar valores (mayúsculas)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s-ES" dirty="0">
                <a:sym typeface="Wingdings" panose="05000000000000000000" pitchFamily="2" charset="2"/>
              </a:rPr>
              <a:t>Var  se infiere el tipo cuando lo asignas  Inferencia de tipos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792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Hablar de los 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tipo de dato no primitivo, es una clase con sus métodos.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ym typeface="Wingdings" panose="05000000000000000000" pitchFamily="2" charset="2"/>
              </a:rPr>
              <a:t>GetClass</a:t>
            </a:r>
            <a:r>
              <a:rPr lang="es-ES" dirty="0">
                <a:sym typeface="Wingdings" panose="05000000000000000000" pitchFamily="2" charset="2"/>
              </a:rPr>
              <a:t>  nos dice que tipo </a:t>
            </a:r>
            <a:r>
              <a:rPr lang="es-ES">
                <a:sym typeface="Wingdings" panose="05000000000000000000" pitchFamily="2" charset="2"/>
              </a:rPr>
              <a:t>de dato es.</a:t>
            </a: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25113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725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+   →  5 + 3       →  Suma dos valores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-   →  5 - 2       →  Resta el segundo valor del primero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*   →  4 * 3       →  Multiplica dos valores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/   →  10 / 2      →  Divide el primer valor por el segundo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%   →  10 % 3      →  Devuelve el resto de la división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++  →  x++         →  Incrementa el valor de x en 1 (</a:t>
            </a:r>
            <a:r>
              <a:rPr lang="es-ES" dirty="0" err="1">
                <a:sym typeface="Wingdings" panose="05000000000000000000" pitchFamily="2" charset="2"/>
              </a:rPr>
              <a:t>post-incremento</a:t>
            </a:r>
            <a:r>
              <a:rPr lang="es-ES" dirty="0">
                <a:sym typeface="Wingdings" panose="05000000000000000000" pitchFamily="2" charset="2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--  →  x--         →  Decrementa el valor de x en 1 (</a:t>
            </a:r>
            <a:r>
              <a:rPr lang="es-ES" dirty="0" err="1">
                <a:sym typeface="Wingdings" panose="05000000000000000000" pitchFamily="2" charset="2"/>
              </a:rPr>
              <a:t>post-decremento</a:t>
            </a:r>
            <a:r>
              <a:rPr lang="es-ES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3518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==  →  5 == 5      →  Devuelve true si los valores son iguales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!=  →  5 != 3      →  Devuelve true si los valores son distintos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&gt;   →  5 &gt; 3       →  Devuelve true si el primer valor es mayor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&lt;   →  2 &lt; 5       →  Devuelve true si el primer valor es menor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&gt;=  →  5 &gt;= 5      →  Devuelve true si el primer valor es mayor o igual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&lt;=  →  3 &lt;= 4      →  Devuelve true si el primer valor es menor o igual</a:t>
            </a: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01724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=   →  x = 5        →  Asigna un valor a una variable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+=  →  x += 3       →  Suma y asigna (x = x + 3)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-=  →  x -= 2       →  Resta y asigna (x = x - 2)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*=  →  x *= 4       →  Multiplica y asigna (x = x * 4)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/=  →  x /= 2       →  Divide y asigna (x = x / 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%=  →  x %= 3       →  Calcula el resto y asigna (x = x % 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75424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&amp;&amp;  →  (x &gt; 0 &amp;&amp; y &gt; 0)   →  Devuelve true si ambas condiciones son verdaderas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||  →  (x &gt; 0 || y &gt; 0)   →  Devuelve true si al menos una condición es verdadera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Wingdings" panose="05000000000000000000" pitchFamily="2" charset="2"/>
              </a:rPr>
              <a:t>!   →  !(x &gt; 0)           →  Invierte el valor lógico (true → false, false → true)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dirty="0">
                <a:sym typeface="Wingdings" panose="05000000000000000000" pitchFamily="2" charset="2"/>
              </a:rPr>
              <a:t>Entrar en Google  Tablas de verdad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6064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+   →  +x           →  Valor positivo de x (no cambia el valor)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  →  -x           →  Niega el valor (cambia su signo)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++  →  ++x / x++    →  Incrementa el valor en 1 (pre o post)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--  →  --x / x--    →  Decrementa el valor en 1 (pre o post)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!   →  !x           →  Invierte el valor lógico (true → false, false → true)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~   →  ~x           →  Invierte todos los bits (operador bit a bit)</a:t>
            </a: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43317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FUNDAMENTOS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1" y="1536172"/>
            <a:ext cx="4637870" cy="2611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Variables y constantes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Tipos de datos primitivos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Operadores aritméticos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Operadores de comparación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Operadores lógicos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dirty="0">
                <a:sym typeface="Arial"/>
              </a:rPr>
              <a:t>Operadores de asignación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6491447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4FF7F1-DC52-2559-C5DF-66F670DE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298" y="2388015"/>
            <a:ext cx="1766571" cy="192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4" y="688004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Variables y constantes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204554" y="173805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130B1407-5141-DD1C-ED9D-85A9B9A68874}"/>
              </a:ext>
            </a:extLst>
          </p:cNvPr>
          <p:cNvSpPr txBox="1"/>
          <p:nvPr/>
        </p:nvSpPr>
        <p:spPr>
          <a:xfrm>
            <a:off x="1212805" y="1383924"/>
            <a:ext cx="6883932" cy="316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Variable vs constante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Tienen nombre (identificador), tipo de dato y valor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Buenas prácticas:</a:t>
            </a:r>
          </a:p>
          <a:p>
            <a:pPr marL="342900" lvl="7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Nombres descriptivos (inglés)</a:t>
            </a:r>
          </a:p>
          <a:p>
            <a:pPr marL="342900" lvl="7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CamelCase</a:t>
            </a: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para las variables</a:t>
            </a:r>
          </a:p>
          <a:p>
            <a:pPr marL="342900" lvl="7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Constantes en mayúsculas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Locales vs globales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Tipo estático vs dinámico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26537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Tipos de datos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568606" y="1179311"/>
            <a:ext cx="6744445" cy="290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Primitivos: Byte(8bits), Short(16bits),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Int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(32bits), etc.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 primitivos: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String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Array, Clases, etc.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Todos los tipos primitivos tiene su equivalente en No primitivo.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Usa el tipo más adecuado para ahorrar memoria.</a:t>
            </a: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05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Buenas prácticas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1" y="1536172"/>
            <a:ext cx="6209326" cy="2956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sym typeface="Arial"/>
              </a:rPr>
              <a:t>Clases e interfaces</a:t>
            </a:r>
            <a:r>
              <a:rPr lang="es-ES" sz="1400" dirty="0">
                <a:sym typeface="Arial"/>
              </a:rPr>
              <a:t> </a:t>
            </a:r>
            <a:r>
              <a:rPr lang="es-ES" sz="1400" dirty="0">
                <a:sym typeface="Wingdings" panose="05000000000000000000" pitchFamily="2" charset="2"/>
              </a:rPr>
              <a:t> </a:t>
            </a:r>
            <a:r>
              <a:rPr lang="es-ES" sz="1400" dirty="0" err="1">
                <a:sym typeface="Wingdings" panose="05000000000000000000" pitchFamily="2" charset="2"/>
              </a:rPr>
              <a:t>PascalCase</a:t>
            </a:r>
            <a:r>
              <a:rPr lang="es-ES" sz="1400" dirty="0">
                <a:sym typeface="Wingdings" panose="05000000000000000000" pitchFamily="2" charset="2"/>
              </a:rPr>
              <a:t> (</a:t>
            </a:r>
            <a:r>
              <a:rPr lang="es-ES" sz="1400" dirty="0" err="1">
                <a:sym typeface="Wingdings" panose="05000000000000000000" pitchFamily="2" charset="2"/>
              </a:rPr>
              <a:t>UpperCamelCase</a:t>
            </a:r>
            <a:r>
              <a:rPr lang="es-ES" sz="1400" dirty="0">
                <a:sym typeface="Wingdings" panose="05000000000000000000" pitchFamily="2" charset="2"/>
              </a:rPr>
              <a:t>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400" dirty="0" err="1">
                <a:sym typeface="Wingdings" panose="05000000000000000000" pitchFamily="2" charset="2"/>
              </a:rPr>
              <a:t>public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dirty="0" err="1">
                <a:sym typeface="Wingdings" panose="05000000000000000000" pitchFamily="2" charset="2"/>
              </a:rPr>
              <a:t>class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dirty="0" err="1">
                <a:sym typeface="Wingdings" panose="05000000000000000000" pitchFamily="2" charset="2"/>
              </a:rPr>
              <a:t>UserAccount</a:t>
            </a:r>
            <a:r>
              <a:rPr lang="es-ES" sz="1400" dirty="0">
                <a:sym typeface="Wingdings" panose="05000000000000000000" pitchFamily="2" charset="2"/>
              </a:rPr>
              <a:t> {}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sym typeface="Arial"/>
              </a:rPr>
              <a:t>Métodos</a:t>
            </a:r>
            <a:r>
              <a:rPr lang="es-ES" sz="1400" dirty="0">
                <a:sym typeface="Arial"/>
              </a:rPr>
              <a:t> </a:t>
            </a:r>
            <a:r>
              <a:rPr lang="es-ES" sz="1400" dirty="0">
                <a:sym typeface="Wingdings" panose="05000000000000000000" pitchFamily="2" charset="2"/>
              </a:rPr>
              <a:t> </a:t>
            </a:r>
            <a:r>
              <a:rPr lang="es-ES" sz="1400" dirty="0" err="1">
                <a:sym typeface="Wingdings" panose="05000000000000000000" pitchFamily="2" charset="2"/>
              </a:rPr>
              <a:t>lowerCamelCase</a:t>
            </a:r>
            <a:endParaRPr lang="es-ES" sz="14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400" dirty="0" err="1">
                <a:sym typeface="Wingdings" panose="05000000000000000000" pitchFamily="2" charset="2"/>
              </a:rPr>
              <a:t>public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dirty="0" err="1">
                <a:sym typeface="Wingdings" panose="05000000000000000000" pitchFamily="2" charset="2"/>
              </a:rPr>
              <a:t>void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dirty="0" err="1">
                <a:sym typeface="Wingdings" panose="05000000000000000000" pitchFamily="2" charset="2"/>
              </a:rPr>
              <a:t>loadData</a:t>
            </a:r>
            <a:r>
              <a:rPr lang="es-ES" sz="1400" dirty="0">
                <a:sym typeface="Wingdings" panose="05000000000000000000" pitchFamily="2" charset="2"/>
              </a:rPr>
              <a:t>() {}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sym typeface="Wingdings" panose="05000000000000000000" pitchFamily="2" charset="2"/>
              </a:rPr>
              <a:t>Variables</a:t>
            </a:r>
            <a:r>
              <a:rPr lang="es-ES" sz="1400" dirty="0">
                <a:sym typeface="Wingdings" panose="05000000000000000000" pitchFamily="2" charset="2"/>
              </a:rPr>
              <a:t>  </a:t>
            </a:r>
            <a:r>
              <a:rPr lang="es-ES" sz="1400" dirty="0" err="1">
                <a:sym typeface="Wingdings" panose="05000000000000000000" pitchFamily="2" charset="2"/>
              </a:rPr>
              <a:t>lowerCamelCase</a:t>
            </a:r>
            <a:endParaRPr lang="es-ES" sz="14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400" dirty="0" err="1">
                <a:sym typeface="Wingdings" panose="05000000000000000000" pitchFamily="2" charset="2"/>
              </a:rPr>
              <a:t>String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dirty="0" err="1">
                <a:sym typeface="Wingdings" panose="05000000000000000000" pitchFamily="2" charset="2"/>
              </a:rPr>
              <a:t>userName</a:t>
            </a:r>
            <a:r>
              <a:rPr lang="es-ES" sz="1400" dirty="0">
                <a:sym typeface="Wingdings" panose="05000000000000000000" pitchFamily="2" charset="2"/>
              </a:rPr>
              <a:t>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400" b="1" dirty="0">
                <a:sym typeface="Wingdings" panose="05000000000000000000" pitchFamily="2" charset="2"/>
              </a:rPr>
              <a:t>Constantes</a:t>
            </a:r>
            <a:r>
              <a:rPr lang="es-ES" sz="1400" dirty="0">
                <a:sym typeface="Wingdings" panose="05000000000000000000" pitchFamily="2" charset="2"/>
              </a:rPr>
              <a:t>  mayúsculas con guiones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400" dirty="0">
                <a:sym typeface="Wingdings" panose="05000000000000000000" pitchFamily="2" charset="2"/>
              </a:rPr>
              <a:t>final int MAX_USERS = 100;</a:t>
            </a:r>
            <a:endParaRPr lang="es-ES" sz="1400" dirty="0">
              <a:sym typeface="Wingdings" panose="05000000000000000000" pitchFamily="2" charset="2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400" dirty="0">
              <a:sym typeface="Wingdings" panose="05000000000000000000" pitchFamily="2" charset="2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400" dirty="0">
              <a:sym typeface="Arial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119830" y="153617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0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Operadores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897342" y="1916700"/>
            <a:ext cx="6744445" cy="1854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Operadores aritméticos</a:t>
            </a:r>
          </a:p>
          <a:p>
            <a:pPr marL="342900" lvl="4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Se usan para realizar operaciones matemáticas básicas (Suma, resta, multiplicación, </a:t>
            </a:r>
            <a:r>
              <a:rPr lang="es-ES" sz="16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etc</a:t>
            </a: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)</a:t>
            </a: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679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Operadores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806600" y="1845614"/>
            <a:ext cx="6744445" cy="160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Operadores de comparación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Permiten comparar valores y devuelven un resultado booleano (True o False)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928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Operadores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593658" y="1744524"/>
            <a:ext cx="6744445" cy="189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Operadores de asignación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Sirven para asignar valores a variables y, en muchos casos, realizar una operación al mismo tiempo.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696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Operadores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659348" y="1644559"/>
            <a:ext cx="6744445" cy="1854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Operadores lógicos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Se usan para combinar o invertir condiciones booleanas.</a:t>
            </a:r>
          </a:p>
          <a:p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006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Operadores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085C40A4-2787-4C79-6D64-B5315358AAD6}"/>
              </a:ext>
            </a:extLst>
          </p:cNvPr>
          <p:cNvSpPr txBox="1"/>
          <p:nvPr/>
        </p:nvSpPr>
        <p:spPr>
          <a:xfrm>
            <a:off x="1593658" y="1744524"/>
            <a:ext cx="6744445" cy="1280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Operadores unarios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Clr>
                <a:schemeClr val="dk2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Operan sobre un solo operando, y se usan mucho en expresiones lógicas o aritméticas.</a:t>
            </a:r>
          </a:p>
        </p:txBody>
      </p:sp>
    </p:spTree>
    <p:extLst>
      <p:ext uri="{BB962C8B-B14F-4D97-AF65-F5344CB8AC3E}">
        <p14:creationId xmlns:p14="http://schemas.microsoft.com/office/powerpoint/2010/main" val="32085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Módulo2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FundamentosDeLaProgramación</a:t>
            </a:r>
            <a:r>
              <a:rPr lang="en" sz="1400" dirty="0">
                <a:solidFill>
                  <a:schemeClr val="accent3"/>
                </a:solidFill>
              </a:rPr>
              <a:t>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Módulo2</a:t>
            </a:r>
            <a:r>
              <a:rPr lang="en" sz="1400">
                <a:solidFill>
                  <a:schemeClr val="accent3"/>
                </a:solidFill>
              </a:rPr>
              <a:t>.</a:t>
            </a:r>
            <a:r>
              <a:rPr lang="en" sz="1400" dirty="0">
                <a:solidFill>
                  <a:schemeClr val="accent3"/>
                </a:solidFill>
              </a:rPr>
              <a:t>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FundamentosDeLaProgramacion.css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955</Words>
  <Application>Microsoft Office PowerPoint</Application>
  <PresentationFormat>Presentación en pantalla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Symbol</vt:lpstr>
      <vt:lpstr>Courier New</vt:lpstr>
      <vt:lpstr>Arial</vt:lpstr>
      <vt:lpstr>Fira Code</vt:lpstr>
      <vt:lpstr>Wingdings</vt:lpstr>
      <vt:lpstr>Programming Language Workshop for Beginners by Slidesgo</vt:lpstr>
      <vt:lpstr>FUNDAMENTOS</vt:lpstr>
      <vt:lpstr>¿Qué aprenderemos? {</vt:lpstr>
      <vt:lpstr>Variables y constantes {</vt:lpstr>
      <vt:lpstr>Tipos de datos {</vt:lpstr>
      <vt:lpstr>Buenas prácticas {</vt:lpstr>
      <vt:lpstr>Operadores{</vt:lpstr>
      <vt:lpstr>Operadores {</vt:lpstr>
      <vt:lpstr>Operadores {</vt:lpstr>
      <vt:lpstr>Operadores {</vt:lpstr>
      <vt:lpstr>Operadores {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20</cp:revision>
  <dcterms:modified xsi:type="dcterms:W3CDTF">2025-11-06T18:48:01Z</dcterms:modified>
</cp:coreProperties>
</file>