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7"/>
  </p:notesMasterIdLst>
  <p:sldIdLst>
    <p:sldId id="307" r:id="rId2"/>
    <p:sldId id="256" r:id="rId3"/>
    <p:sldId id="313" r:id="rId4"/>
    <p:sldId id="314" r:id="rId5"/>
    <p:sldId id="322" r:id="rId6"/>
    <p:sldId id="315" r:id="rId7"/>
    <p:sldId id="316" r:id="rId8"/>
    <p:sldId id="323" r:id="rId9"/>
    <p:sldId id="318" r:id="rId10"/>
    <p:sldId id="321" r:id="rId11"/>
    <p:sldId id="324" r:id="rId12"/>
    <p:sldId id="319" r:id="rId13"/>
    <p:sldId id="320" r:id="rId14"/>
    <p:sldId id="312" r:id="rId15"/>
    <p:sldId id="311" r:id="rId16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18"/>
      <p:bold r:id="rId19"/>
      <p:italic r:id="rId20"/>
      <p:boldItalic r:id="rId21"/>
    </p:embeddedFont>
    <p:embeddedFont>
      <p:font typeface="Fira Code" panose="020B0809050000020004" pitchFamily="49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8AD038-0CC6-4834-A986-352E8F01496E}">
  <a:tblStyle styleId="{478AD038-0CC6-4834-A986-352E8F0149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65098" autoAdjust="0"/>
  </p:normalViewPr>
  <p:slideViewPr>
    <p:cSldViewPr snapToGrid="0">
      <p:cViewPr varScale="1">
        <p:scale>
          <a:sx n="71" d="100"/>
          <a:sy n="71" d="100"/>
        </p:scale>
        <p:origin x="1786" y="48"/>
      </p:cViewPr>
      <p:guideLst/>
    </p:cSldViewPr>
  </p:slideViewPr>
  <p:outlineViewPr>
    <p:cViewPr>
      <p:scale>
        <a:sx n="33" d="100"/>
        <a:sy n="33" d="100"/>
      </p:scale>
      <p:origin x="0" y="-4829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649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88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4832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1343690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2558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9494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4287817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2078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547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484161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4088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5401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26865292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0078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19313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13525" y="3317438"/>
            <a:ext cx="3158400" cy="7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413525" y="173686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0" y="455070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3"/>
          </p:nvPr>
        </p:nvSpPr>
        <p:spPr>
          <a:xfrm>
            <a:off x="1413525" y="2325113"/>
            <a:ext cx="56823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" name="Google Shape;174;p11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4" name="Google Shape;214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1" name="Google Shape;231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0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54;p18">
            <a:extLst>
              <a:ext uri="{FF2B5EF4-FFF2-40B4-BE49-F238E27FC236}">
                <a16:creationId xmlns:a16="http://schemas.microsoft.com/office/drawing/2014/main" id="{BD11792E-DB1B-6B29-E401-4A576AC3E3BC}"/>
              </a:ext>
            </a:extLst>
          </p:cNvPr>
          <p:cNvSpPr txBox="1">
            <a:spLocks/>
          </p:cNvSpPr>
          <p:nvPr/>
        </p:nvSpPr>
        <p:spPr>
          <a:xfrm>
            <a:off x="127094" y="4679064"/>
            <a:ext cx="5285293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1800" b="0" i="0" u="none" strike="noStrike" cap="none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/>
            <a:r>
              <a:rPr lang="es-ES" sz="1400">
                <a:solidFill>
                  <a:schemeClr val="accent1"/>
                </a:solidFill>
              </a:rPr>
              <a:t>Introducción a la programación en java</a:t>
            </a:r>
            <a:endParaRPr lang="es-ES" sz="1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Technology Code GIF by The Coding Space RD">
            <a:extLst>
              <a:ext uri="{FF2B5EF4-FFF2-40B4-BE49-F238E27FC236}">
                <a16:creationId xmlns:a16="http://schemas.microsoft.com/office/drawing/2014/main" id="{684DF84A-72D3-DC15-CC8D-65294DF11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784" y="864948"/>
            <a:ext cx="3413603" cy="341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52;p18">
            <a:extLst>
              <a:ext uri="{FF2B5EF4-FFF2-40B4-BE49-F238E27FC236}">
                <a16:creationId xmlns:a16="http://schemas.microsoft.com/office/drawing/2014/main" id="{7B990F70-D7D8-215E-515D-C983149AB3F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771452" y="1580445"/>
            <a:ext cx="3135481" cy="16820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>
                    <a:lumMod val="75000"/>
                  </a:schemeClr>
                </a:solidFill>
              </a:rPr>
              <a:t>ESTRUCTURAS DE DATOS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844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6823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¿Qué aprenderemos?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00438" y="1539062"/>
            <a:ext cx="7181159" cy="2773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dirty="0"/>
              <a:t>Aprender a </a:t>
            </a:r>
            <a:r>
              <a:rPr lang="es-ES" b="1" dirty="0"/>
              <a:t>almacenar, organizar y acceder a conjuntos de datos</a:t>
            </a:r>
            <a:r>
              <a:rPr lang="es-ES" dirty="0"/>
              <a:t> de forma eficiente usando las principales estructuras de Java:</a:t>
            </a:r>
            <a:endParaRPr lang="es-ES" sz="1800" kern="100" dirty="0">
              <a:effectLst/>
              <a:latin typeface="Candara" panose="020E0502030303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Arrays</a:t>
            </a:r>
            <a:endParaRPr lang="es-ES" sz="1800" kern="100" dirty="0">
              <a:effectLst/>
              <a:latin typeface="Candara" panose="020E0502030303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Listas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800" kern="100" dirty="0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ES" sz="1800" kern="100" dirty="0" err="1">
                <a:effectLst/>
                <a:latin typeface="Candara" panose="020E0502030303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Maps</a:t>
            </a:r>
            <a:endParaRPr lang="es-ES" sz="1800" kern="100" dirty="0">
              <a:effectLst/>
              <a:latin typeface="Candara" panose="020E0502030303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66025" y="102951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81612" y="1539062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0CB4991F-E522-1418-B7EC-DF8ACA109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261" y="2676962"/>
            <a:ext cx="3183846" cy="179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Arrays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19" y="1512814"/>
            <a:ext cx="7031645" cy="2964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Guarda varios elementos del mismo tipo (Primitivos y no primitivos).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Tiene un tamaño fijo: no puede cambiar una vez creado.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Cada elemento se identifica por un índice, que empieza en 0.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Arrays.css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00571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338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Arrays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00571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92EFDAA3-96F5-29D4-4D4A-33473AF42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075" y="1455020"/>
            <a:ext cx="4105020" cy="302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39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753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ArrayLists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19" y="1512814"/>
            <a:ext cx="7288182" cy="2800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Guarda varios elementos del mismo tipo (NO primitivos)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Tienen un tamaño dinámico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Permite añadir y eliminar elementos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Supone algo más de sobrecarga de rendimiento, comparado con los </a:t>
            </a:r>
            <a:r>
              <a:rPr lang="es-ES" sz="1600" dirty="0" err="1"/>
              <a:t>arrays</a:t>
            </a:r>
            <a:endParaRPr lang="es-ES" sz="1600" dirty="0"/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57103" y="15242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16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ArrayListst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Arrays.css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400571" y="152084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F69D8360-A52E-4A45-CC1F-0BE1D75A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94" y="1449886"/>
            <a:ext cx="3715726" cy="302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32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372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Sets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68919" y="1512814"/>
            <a:ext cx="7288182" cy="28000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Guarda varios elementos del mismo tipo (NO primitivos)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Una colección que no permite elementos duplicados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No mantiene un orden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Utiliza un </a:t>
            </a:r>
            <a:r>
              <a:rPr lang="es-ES" sz="1600" dirty="0"/>
              <a:t>hash como modo de ordenación (no un índice)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No es posible modificarlos (no sabemos donde esta cada elemento)</a:t>
            </a: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57103" y="15242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682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Sets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57103" y="15242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8AD9CCA0-76A6-70FE-7A46-65AF0550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413" y="1524245"/>
            <a:ext cx="4660845" cy="27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821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85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Maps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3" name="Google Shape;253;p18"/>
          <p:cNvSpPr txBox="1">
            <a:spLocks noGrp="1"/>
          </p:cNvSpPr>
          <p:nvPr>
            <p:ph type="subTitle" idx="1"/>
          </p:nvPr>
        </p:nvSpPr>
        <p:spPr>
          <a:xfrm>
            <a:off x="1384461" y="2042282"/>
            <a:ext cx="7288182" cy="1058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Un </a:t>
            </a:r>
            <a:r>
              <a:rPr lang="es-ES" sz="1600" dirty="0" err="1"/>
              <a:t>Map</a:t>
            </a:r>
            <a:r>
              <a:rPr lang="es-ES" sz="1600" dirty="0"/>
              <a:t> asocia claves con valores.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600" dirty="0"/>
              <a:t>Cada clave es única, pero los valores pueden repetirse.</a:t>
            </a:r>
            <a:endParaRPr lang="es-ES" sz="1600" dirty="0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57103" y="15242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436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368920" y="830650"/>
            <a:ext cx="593843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Maps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Módulo5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57103" y="1524245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18766DF0-B436-EA4C-7A8D-DB1C1572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397" y="1637315"/>
            <a:ext cx="5875611" cy="24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52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3596457" y="2365338"/>
            <a:ext cx="6139568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PRÁCTICA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EstructuraDatos.css</a:t>
            </a:r>
            <a:endParaRPr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83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 txBox="1">
            <a:spLocks noGrp="1"/>
          </p:cNvSpPr>
          <p:nvPr>
            <p:ph type="ctrTitle"/>
          </p:nvPr>
        </p:nvSpPr>
        <p:spPr>
          <a:xfrm>
            <a:off x="1212803" y="688004"/>
            <a:ext cx="6362591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Quiz </a:t>
            </a:r>
            <a:r>
              <a:rPr lang="en" dirty="0">
                <a:solidFill>
                  <a:schemeClr val="accent3"/>
                </a:solidFill>
              </a:rPr>
              <a:t>{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54" name="Google Shape;254;p18"/>
          <p:cNvSpPr txBox="1">
            <a:spLocks noGrp="1"/>
          </p:cNvSpPr>
          <p:nvPr>
            <p:ph type="subTitle" idx="1"/>
          </p:nvPr>
        </p:nvSpPr>
        <p:spPr>
          <a:xfrm>
            <a:off x="289932" y="4694725"/>
            <a:ext cx="5285293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1"/>
                </a:solidFill>
              </a:rPr>
              <a:t>Introducción a la programación en java</a:t>
            </a:r>
            <a:endParaRPr sz="1400" dirty="0">
              <a:solidFill>
                <a:schemeClr val="accent1"/>
              </a:solidFill>
            </a:endParaRPr>
          </a:p>
        </p:txBody>
      </p:sp>
      <p:sp>
        <p:nvSpPr>
          <p:cNvPr id="256" name="Google Shape;256;p18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Módulo4</a:t>
            </a:r>
            <a:r>
              <a:rPr lang="en" sz="1400" dirty="0">
                <a:solidFill>
                  <a:schemeClr val="accent3"/>
                </a:solidFill>
              </a:rPr>
              <a:t>.java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subTitle" idx="1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Condicionales</a:t>
            </a:r>
            <a:r>
              <a:rPr lang="en" sz="1400" dirty="0">
                <a:solidFill>
                  <a:schemeClr val="accent3"/>
                </a:solidFill>
              </a:rPr>
              <a:t>.css</a:t>
            </a:r>
            <a:endParaRPr sz="1400" dirty="0">
              <a:solidFill>
                <a:schemeClr val="accent3"/>
              </a:solidFill>
            </a:endParaRPr>
          </a:p>
        </p:txBody>
      </p:sp>
      <p:grpSp>
        <p:nvGrpSpPr>
          <p:cNvPr id="260" name="Google Shape;260;p18"/>
          <p:cNvGrpSpPr/>
          <p:nvPr/>
        </p:nvGrpSpPr>
        <p:grpSpPr>
          <a:xfrm>
            <a:off x="8641787" y="1916700"/>
            <a:ext cx="506100" cy="2956675"/>
            <a:chOff x="1413525" y="1247575"/>
            <a:chExt cx="506100" cy="2956675"/>
          </a:xfrm>
        </p:grpSpPr>
        <p:cxnSp>
          <p:nvCxnSpPr>
            <p:cNvPr id="261" name="Google Shape;261;p18"/>
            <p:cNvCxnSpPr/>
            <p:nvPr/>
          </p:nvCxnSpPr>
          <p:spPr>
            <a:xfrm>
              <a:off x="1552213" y="1247575"/>
              <a:ext cx="0" cy="22758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2" name="Google Shape;262;p18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1026" name="Picture 2" descr="Imágenes de Quiz - Descarga gratuita en Freepik">
            <a:extLst>
              <a:ext uri="{FF2B5EF4-FFF2-40B4-BE49-F238E27FC236}">
                <a16:creationId xmlns:a16="http://schemas.microsoft.com/office/drawing/2014/main" id="{5ACABE33-0C5E-8520-0B1D-DD3565ED0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88" y="1828083"/>
            <a:ext cx="4657593" cy="189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35523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370</Words>
  <Application>Microsoft Office PowerPoint</Application>
  <PresentationFormat>Presentación en pantalla (16:9)</PresentationFormat>
  <Paragraphs>87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Symbol</vt:lpstr>
      <vt:lpstr>Fira Code</vt:lpstr>
      <vt:lpstr>Candara</vt:lpstr>
      <vt:lpstr>Courier New</vt:lpstr>
      <vt:lpstr>Arial</vt:lpstr>
      <vt:lpstr>Wingdings</vt:lpstr>
      <vt:lpstr>Programming Language Workshop for Beginners by Slidesgo</vt:lpstr>
      <vt:lpstr>ESTRUCTURAS DE DATOS</vt:lpstr>
      <vt:lpstr>¿Qué aprenderemos? {</vt:lpstr>
      <vt:lpstr>Arrays{</vt:lpstr>
      <vt:lpstr>Arrays{</vt:lpstr>
      <vt:lpstr>PRÁCTICA</vt:lpstr>
      <vt:lpstr>ArrayLists {</vt:lpstr>
      <vt:lpstr>ArrayListst{</vt:lpstr>
      <vt:lpstr>PRÁCTICA</vt:lpstr>
      <vt:lpstr>Sets {</vt:lpstr>
      <vt:lpstr>Sets {</vt:lpstr>
      <vt:lpstr>PRÁCTICA</vt:lpstr>
      <vt:lpstr>Maps {</vt:lpstr>
      <vt:lpstr>Maps {</vt:lpstr>
      <vt:lpstr>PRÁCTICA</vt:lpstr>
      <vt:lpstr>Quiz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Josu Motoso</dc:creator>
  <cp:lastModifiedBy>Josu Motoso</cp:lastModifiedBy>
  <cp:revision>27</cp:revision>
  <dcterms:modified xsi:type="dcterms:W3CDTF">2025-11-15T20:30:04Z</dcterms:modified>
</cp:coreProperties>
</file>