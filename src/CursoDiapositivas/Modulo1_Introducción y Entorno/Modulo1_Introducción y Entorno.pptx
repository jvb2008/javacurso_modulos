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8"/>
  </p:notesMasterIdLst>
  <p:sldIdLst>
    <p:sldId id="308" r:id="rId2"/>
    <p:sldId id="307" r:id="rId3"/>
    <p:sldId id="256" r:id="rId4"/>
    <p:sldId id="291" r:id="rId5"/>
    <p:sldId id="292" r:id="rId6"/>
    <p:sldId id="293" r:id="rId7"/>
    <p:sldId id="294" r:id="rId8"/>
    <p:sldId id="295" r:id="rId9"/>
    <p:sldId id="300" r:id="rId10"/>
    <p:sldId id="296" r:id="rId11"/>
    <p:sldId id="297" r:id="rId12"/>
    <p:sldId id="301" r:id="rId13"/>
    <p:sldId id="302" r:id="rId14"/>
    <p:sldId id="303" r:id="rId15"/>
    <p:sldId id="305" r:id="rId16"/>
    <p:sldId id="306" r:id="rId17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19"/>
      <p:bold r:id="rId20"/>
      <p:italic r:id="rId21"/>
      <p:boldItalic r:id="rId22"/>
    </p:embeddedFont>
    <p:embeddedFont>
      <p:font typeface="Fira Code" panose="020B0809050000020004" pitchFamily="49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D038-0CC6-4834-A986-352E8F01496E}">
  <a:tblStyle styleId="{478AD038-0CC6-4834-A986-352E8F014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46928" autoAdjust="0"/>
  </p:normalViewPr>
  <p:slideViewPr>
    <p:cSldViewPr snapToGrid="0">
      <p:cViewPr varScale="1">
        <p:scale>
          <a:sx n="48" d="100"/>
          <a:sy n="48" d="100"/>
        </p:scale>
        <p:origin x="2458" y="48"/>
      </p:cViewPr>
      <p:guideLst/>
    </p:cSldViewPr>
  </p:slideViewPr>
  <p:outlineViewPr>
    <p:cViewPr>
      <p:scale>
        <a:sx n="33" d="100"/>
        <a:sy n="33" d="100"/>
      </p:scale>
      <p:origin x="0" y="-48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7039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49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 bueno saber cuál es su contexto y porqué es un lenguaje interesante a día de hoy para poder estudiarlo.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Existen 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muchos lenguajes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quizás ahora son más escuchados o están más de moda. Pero podemos ver ciertos índices que indican que java sigue siendo uno de los lenguajes de programación más importantes y más utilizados a día de hoy.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Python: Machine learning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</a:t>
            </a: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aplicaciones</a:t>
            </a: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web frontend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Csharp</a:t>
            </a: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backend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Basic, </a:t>
            </a:r>
            <a:r>
              <a:rPr lang="en-U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etc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Google: Utiliza Java en su sistema operativo para móviles, Android.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Amazon: Emplea Java para el desarrollo de su infraestructura de servicios en la nube, como AWS.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Netflix: Ha construido la mayor parte de su arquitectura de servicios en Java, y utiliza el lenguaje para sus servicios de transmisión y aprendizaje automático.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LinkedIn: Se estima que está escrito en un 99% en Java para garantizar un rendimiento confiable, incluso durante picos de tráfico.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Uber: Usa Java en el desarrollo de su infraestructura tecnológica, incluyendo aplicaciones móviles y servicios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backend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Twitter: Ha utilizado Java, por ejemplo, a través del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Apache Hadoop para manejar grandes cantidades de datos.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Microsoft: Aunque su enfoque principal es .NET, también utiliza Java en ciertos productos y servicios, como el desarrollo del navegador Edge.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NASA: Desarrolló la aplicación de código abierto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World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Wind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 Java para crear un globo virtual en 3D de la Tierra.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3063466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Entrar 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dirty="0" err="1"/>
              <a:t>Tiobe</a:t>
            </a:r>
            <a:r>
              <a:rPr lang="es-ES" dirty="0"/>
              <a:t>: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Indice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popularidad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Git Hub: </a:t>
            </a:r>
            <a:r>
              <a:rPr lang="es-ES" sz="18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Código subido en repositorios </a:t>
            </a: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Stackoverflow</a:t>
            </a:r>
            <a:r>
              <a:rPr lang="es-ES" dirty="0"/>
              <a:t>: </a:t>
            </a:r>
            <a:r>
              <a:rPr lang="es-ES" sz="18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Preguntas relacionadas con java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9160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301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dirty="0"/>
              <a:t>Entrar en </a:t>
            </a:r>
            <a:r>
              <a:rPr lang="es-ES" b="1" dirty="0"/>
              <a:t>Wikipedia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Puede ser ejecutada en cualquier máquina virtual de 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 JVM 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 importar la arquitectura de la computadora que la corre.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Aunque sigue siendo muy popular todavía, esta perdiendo algo de popularidad desde que otros lenguajes también utilizan JVM.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7921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Kotlin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evolución de java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Compañía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JetBrains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crean diferentes editores de código. Como conocían tan bien el entorno de Java desarrollaron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Kotlin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Donde se puede ejecutar Java se puede ejecutar con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Kotlin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Son dos lenguajes que pueden trabajar entre ellos porque corren en la maquina virtual de java.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puede ejecutar en 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cualquier sistema operativo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Muy 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orientado al estudio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porque define muy bien el paradigma de un lenguaje de programación orientado a objetos.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define como 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fuertemente tipado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Cuando definimos una variable se tiene que definir por un tipo. Por eso es un lenguaje muy seguro.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 además es un 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lenguaje compilado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y por eso es 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lenguaje seguro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Podemos tener errores en tiempo de ejecución y no en tiempo de desarrollo.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5113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 es un </a:t>
            </a:r>
            <a:r>
              <a:rPr lang="es-ES" sz="11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lenguaje compilado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  <a:r>
              <a:rPr lang="es-ES" sz="11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JVM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envuelve todo el código que desarrollamos y lo traduce al lenguaje maquina (</a:t>
            </a:r>
            <a:r>
              <a:rPr lang="es-ES" sz="11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bytecode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para poder ejecutarlo en </a:t>
            </a:r>
            <a:r>
              <a:rPr lang="es-ES" sz="11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cualquier tipo de máquina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diferencia de un lenguaje </a:t>
            </a:r>
            <a:r>
              <a:rPr lang="es-ES" sz="11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interpretado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como es </a:t>
            </a:r>
            <a:r>
              <a:rPr lang="es-ES" sz="11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Python… no hay un tratamiento anterior del código. Cosa que no hace un lenguaje compilado. El fichero .java (donde ) se convierte en un .</a:t>
            </a:r>
            <a:r>
              <a:rPr lang="es-ES" sz="11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tiene el </a:t>
            </a:r>
            <a:r>
              <a:rPr lang="es-ES" sz="11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bytecode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lo entiende la maquina. </a:t>
            </a:r>
            <a:endParaRPr lang="es-E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será lo mismo una JVM para Windows o para Linux. Pero el </a:t>
            </a:r>
            <a:r>
              <a:rPr lang="es-ES" sz="11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bytecode</a:t>
            </a:r>
            <a:r>
              <a:rPr lang="es-ES" sz="11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 el mismo. Y la JVM se encarga de generar ese fichero para que se entendido por el sistema operativo.</a:t>
            </a:r>
            <a:endParaRPr lang="es-E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67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</a:t>
            </a: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en-U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paginas</a:t>
            </a: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web, frontend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 – machine learning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Sobre todo para </a:t>
            </a:r>
            <a:r>
              <a:rPr lang="es-ES" sz="18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backend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servidor. </a:t>
            </a:r>
            <a:endParaRPr lang="es-ES" sz="24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b="1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Spring </a:t>
            </a:r>
            <a:r>
              <a:rPr lang="es-ES" sz="1800" b="1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entrar en</a:t>
            </a:r>
            <a:r>
              <a:rPr lang="es-ES" sz="1800" b="1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https://spring.io/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Aplicaciones de escritorio 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JavaFX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parte visual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</a:t>
            </a:r>
            <a:r>
              <a:rPr lang="es-ES" sz="18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big</a:t>
            </a:r>
            <a:r>
              <a:rPr lang="es-E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spark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 Hadoop utilizan java por detrás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Temas de seguridad,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IoT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…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ES" sz="1800" b="1" dirty="0">
              <a:effectLst/>
              <a:latin typeface="Candara" panose="020E0502030303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6025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8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JDK 25 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Java development kit. 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Kit para Desarrollo, tiene las dependencias necesarias, como para desarrollar cualquier código en java, pero también para compilarlo y probarlo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800" b="1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openJDK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también lo hizo Oracle,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opensource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Código abierto. Con lo que nos vamos a quedar para desarrollar.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Amazon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Corretto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Amazon también ha creado un JDK optimizada para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amazon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services</a:t>
            </a: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basada en </a:t>
            </a: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openJDK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Entrar 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ORACLE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JAVA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OPENJDK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AMAZON CORRETTO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4421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Entrar 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Netbeans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sobre todo para estudio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dirty="0" err="1"/>
              <a:t>BlueJ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para estudio</a:t>
            </a: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Eclipse </a:t>
            </a:r>
            <a:r>
              <a:rPr lang="es-ES" dirty="0">
                <a:sym typeface="Wingdings" panose="05000000000000000000" pitchFamily="2" charset="2"/>
              </a:rPr>
              <a:t> Utilizado en muchas empresas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dirty="0"/>
              <a:t>Visual Studio </a:t>
            </a:r>
            <a:r>
              <a:rPr lang="es-ES" dirty="0" err="1"/>
              <a:t>code</a:t>
            </a:r>
            <a:r>
              <a:rPr lang="es-ES" dirty="0"/>
              <a:t> para java </a:t>
            </a:r>
            <a:r>
              <a:rPr lang="es-ES" dirty="0">
                <a:sym typeface="Wingdings" panose="05000000000000000000" pitchFamily="2" charset="2"/>
              </a:rPr>
              <a:t> Pensado para muchos lenguajes de código</a:t>
            </a: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InteliJ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de los mas completos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9410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723637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5888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686529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2838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5yAbVkIMl_M?feature=oembed" TargetMode="Externa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dk.java.net/25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gif"/><Relationship Id="rId4" Type="http://schemas.openxmlformats.org/officeDocument/2006/relationships/hyperlink" Target="https://www.jetbrains.com/idea/download/other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99908" y="736758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929353" y="630215"/>
            <a:ext cx="5285294" cy="3741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/>
              <a:t>Introducción y entorno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Fundamentos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 err="1"/>
              <a:t>Strings</a:t>
            </a:r>
            <a:endParaRPr lang="es-ES" dirty="0"/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Condicionales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/>
              <a:t>Estructura de datos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Bucles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/>
              <a:t>Métodos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Programación Orientada a Objetos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dirty="0"/>
              <a:t>Excepciones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389258" y="830651"/>
            <a:ext cx="506100" cy="3864074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0" name="AutoShape 2" descr="a blue and red drawing of a cup of coffee with steam coming out of it">
            <a:extLst>
              <a:ext uri="{FF2B5EF4-FFF2-40B4-BE49-F238E27FC236}">
                <a16:creationId xmlns:a16="http://schemas.microsoft.com/office/drawing/2014/main" id="{32B6EB8E-94B3-EF68-F59D-5C95CBD491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30" name="Picture 6" descr="Logotipo de Java apaisado PNG transparente - StickPNG">
            <a:extLst>
              <a:ext uri="{FF2B5EF4-FFF2-40B4-BE49-F238E27FC236}">
                <a16:creationId xmlns:a16="http://schemas.microsoft.com/office/drawing/2014/main" id="{37A6422F-AD27-52F8-2182-0A39387CB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425" y="1810462"/>
            <a:ext cx="2719539" cy="138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254;p18">
            <a:extLst>
              <a:ext uri="{FF2B5EF4-FFF2-40B4-BE49-F238E27FC236}">
                <a16:creationId xmlns:a16="http://schemas.microsoft.com/office/drawing/2014/main" id="{1D722608-F1CF-05F2-A61F-A7843CAEE065}"/>
              </a:ext>
            </a:extLst>
          </p:cNvPr>
          <p:cNvSpPr txBox="1">
            <a:spLocks/>
          </p:cNvSpPr>
          <p:nvPr/>
        </p:nvSpPr>
        <p:spPr>
          <a:xfrm>
            <a:off x="5193792" y="35771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2000" dirty="0">
                <a:solidFill>
                  <a:schemeClr val="accent1"/>
                </a:solidFill>
              </a:rPr>
              <a:t>Programación didáctica</a:t>
            </a:r>
          </a:p>
        </p:txBody>
      </p:sp>
    </p:spTree>
    <p:extLst>
      <p:ext uri="{BB962C8B-B14F-4D97-AF65-F5344CB8AC3E}">
        <p14:creationId xmlns:p14="http://schemas.microsoft.com/office/powerpoint/2010/main" val="898053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54;p18">
            <a:extLst>
              <a:ext uri="{FF2B5EF4-FFF2-40B4-BE49-F238E27FC236}">
                <a16:creationId xmlns:a16="http://schemas.microsoft.com/office/drawing/2014/main" id="{BD11792E-DB1B-6B29-E401-4A576AC3E3BC}"/>
              </a:ext>
            </a:extLst>
          </p:cNvPr>
          <p:cNvSpPr txBox="1">
            <a:spLocks/>
          </p:cNvSpPr>
          <p:nvPr/>
        </p:nvSpPr>
        <p:spPr>
          <a:xfrm>
            <a:off x="127094" y="4679064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>
                <a:solidFill>
                  <a:schemeClr val="accent1"/>
                </a:solidFill>
              </a:rPr>
              <a:t>Introducción a la programación en java</a:t>
            </a:r>
            <a:endParaRPr lang="es-ES" sz="1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Technology Code GIF by The Coding Space RD">
            <a:extLst>
              <a:ext uri="{FF2B5EF4-FFF2-40B4-BE49-F238E27FC236}">
                <a16:creationId xmlns:a16="http://schemas.microsoft.com/office/drawing/2014/main" id="{684DF84A-72D3-DC15-CC8D-65294DF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84" y="864948"/>
            <a:ext cx="3413603" cy="34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52;p18">
            <a:extLst>
              <a:ext uri="{FF2B5EF4-FFF2-40B4-BE49-F238E27FC236}">
                <a16:creationId xmlns:a16="http://schemas.microsoft.com/office/drawing/2014/main" id="{7B990F70-D7D8-215E-515D-C983149AB3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771452" y="1580445"/>
            <a:ext cx="3135481" cy="1682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INTRODUCCIÓN Y ENTORNO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4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¿Qué aprenderemos?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1" y="1536173"/>
            <a:ext cx="4637870" cy="957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Contexto e historia de Java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Versiones de Java y su ecosistema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Usos del lenguaje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Editores de código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Instalación del entorno IntelliJ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Primer programa: Hola Mundo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6491447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B64FF7F1-DC52-2559-C5DF-66F670DE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298" y="2388015"/>
            <a:ext cx="1766571" cy="192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20238" y="712290"/>
            <a:ext cx="5960073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¿Por qué estudiar JAVA?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651419" y="1454172"/>
            <a:ext cx="4637870" cy="2754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JAVA = +3 mil M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de dispositivos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371695" y="189351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2052" name="Picture 4" descr="Google png | PNGEgg">
            <a:extLst>
              <a:ext uri="{FF2B5EF4-FFF2-40B4-BE49-F238E27FC236}">
                <a16:creationId xmlns:a16="http://schemas.microsoft.com/office/drawing/2014/main" id="{527AB167-10D1-765D-5CB2-A2A05A0CD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17" y="2048105"/>
            <a:ext cx="699856" cy="69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etflix logo transparente antecedentes png 42165811 PNG">
            <a:extLst>
              <a:ext uri="{FF2B5EF4-FFF2-40B4-BE49-F238E27FC236}">
                <a16:creationId xmlns:a16="http://schemas.microsoft.com/office/drawing/2014/main" id="{C9A29F3C-EF0E-EAEF-AD35-29606DF16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7625">
            <a:off x="7370551" y="1918240"/>
            <a:ext cx="959586" cy="95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logotipo de linkedin png, icono de linkedin png transparente 18930480 PNG">
            <a:extLst>
              <a:ext uri="{FF2B5EF4-FFF2-40B4-BE49-F238E27FC236}">
                <a16:creationId xmlns:a16="http://schemas.microsoft.com/office/drawing/2014/main" id="{A6EE8211-A282-A436-CCB6-6D24EB0C3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748" y="2065108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La Historia del logo de Amazon – Guía Impresión">
            <a:extLst>
              <a:ext uri="{FF2B5EF4-FFF2-40B4-BE49-F238E27FC236}">
                <a16:creationId xmlns:a16="http://schemas.microsoft.com/office/drawing/2014/main" id="{0026B744-5607-AA5F-C793-5CAB008C1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73755">
            <a:off x="1380977" y="3596080"/>
            <a:ext cx="1188966" cy="665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UBER Logo - símbolo, significado logotipo, historia, PNG">
            <a:extLst>
              <a:ext uri="{FF2B5EF4-FFF2-40B4-BE49-F238E27FC236}">
                <a16:creationId xmlns:a16="http://schemas.microsoft.com/office/drawing/2014/main" id="{4CEFD5CE-2FA0-371C-057F-869499F24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818" y="3381627"/>
            <a:ext cx="1395413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X (anteriormente Twitter): Estrategias de Marketing en la nueva era de la  plataforma | o10media">
            <a:extLst>
              <a:ext uri="{FF2B5EF4-FFF2-40B4-BE49-F238E27FC236}">
                <a16:creationId xmlns:a16="http://schemas.microsoft.com/office/drawing/2014/main" id="{7AD320DD-BBDF-B0A0-172E-59CE726D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00846">
            <a:off x="5631657" y="1909092"/>
            <a:ext cx="1315263" cy="98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microsoft logo png, microsoft icono transparente png 27127473 PNG">
            <a:extLst>
              <a:ext uri="{FF2B5EF4-FFF2-40B4-BE49-F238E27FC236}">
                <a16:creationId xmlns:a16="http://schemas.microsoft.com/office/drawing/2014/main" id="{44F60534-7DE9-C083-F555-50E103DCF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625" y="3441739"/>
            <a:ext cx="963872" cy="96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Sabes quién diseño el logo de la NASA y su significado?">
            <a:extLst>
              <a:ext uri="{FF2B5EF4-FFF2-40B4-BE49-F238E27FC236}">
                <a16:creationId xmlns:a16="http://schemas.microsoft.com/office/drawing/2014/main" id="{DCA30AE5-6AE0-3EFD-14B5-6A831078D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95415">
            <a:off x="3694755" y="2276787"/>
            <a:ext cx="1627050" cy="911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Minecraft Logo PNG Vector (AI, CDR, EPS, PDF, SVG) Free Download">
            <a:extLst>
              <a:ext uri="{FF2B5EF4-FFF2-40B4-BE49-F238E27FC236}">
                <a16:creationId xmlns:a16="http://schemas.microsoft.com/office/drawing/2014/main" id="{4590FF40-5F07-6F32-D690-31B848A0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497" y="3381627"/>
            <a:ext cx="1116056" cy="111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376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0FE608-868D-F33E-4D33-B8DC4FCE2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00" y="746322"/>
            <a:ext cx="5052206" cy="24527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EFE846E-B0A8-4622-C16F-9F0CE1512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222" y="979571"/>
            <a:ext cx="3451778" cy="28141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1757E39-779E-54D3-C51C-828CC7159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818" y="2771991"/>
            <a:ext cx="5285293" cy="1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4" y="688004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712185" y="1719684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2" name="Elementos multimedia en línea 1" title="Most Popular Programming Languages 1955 - 2025">
            <a:hlinkClick r:id="" action="ppaction://media"/>
            <a:extLst>
              <a:ext uri="{FF2B5EF4-FFF2-40B4-BE49-F238E27FC236}">
                <a16:creationId xmlns:a16="http://schemas.microsoft.com/office/drawing/2014/main" id="{C42CF092-38BD-7F88-C696-4F0C53B3F3B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32943" y="946754"/>
            <a:ext cx="5466164" cy="308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1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4" y="688004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Un poco de historia…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204554" y="173805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130B1407-5141-DD1C-ED9D-85A9B9A68874}"/>
              </a:ext>
            </a:extLst>
          </p:cNvPr>
          <p:cNvSpPr txBox="1"/>
          <p:nvPr/>
        </p:nvSpPr>
        <p:spPr>
          <a:xfrm>
            <a:off x="1212805" y="1383924"/>
            <a:ext cx="6883932" cy="321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Java 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Sun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Microsystems James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Goslings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1995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Oracle compró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Sun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Microsystems, 2010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Desarrollada partiendo de lenguajes C y C++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Puede ser ejecutada en cualquier máquina virtual de java JVM sin importar la arquitectura de la computadora que la corre.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Write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Once, Run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Anywhere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 (Escríbelo una vez y córrelo en cualquier lugar)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Kotlin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jetbrains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052" name="Picture 4" descr="History Fibbing GIF">
            <a:extLst>
              <a:ext uri="{FF2B5EF4-FFF2-40B4-BE49-F238E27FC236}">
                <a16:creationId xmlns:a16="http://schemas.microsoft.com/office/drawing/2014/main" id="{BC46A6B7-C75A-A7FC-CF5B-39282FB1B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871" y="899532"/>
            <a:ext cx="1095801" cy="109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377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Qué lo hace tan atractivo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26707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3840530" y="1553068"/>
            <a:ext cx="4820249" cy="349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JVM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ByteCode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Lenguaje compilado vs interpretado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Fuertemente tipado vs débil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Garbage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collector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Lenguaje muy apropiado para aprender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Kotlin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  <p:pic>
        <p:nvPicPr>
          <p:cNvPr id="3076" name="Picture 4" descr="Celebrity gif. Seated on a brownish-orange couch and wearing a fuzzy beige sweater, Gigi Hadid tilts her glasses to give us a look of surprise.">
            <a:extLst>
              <a:ext uri="{FF2B5EF4-FFF2-40B4-BE49-F238E27FC236}">
                <a16:creationId xmlns:a16="http://schemas.microsoft.com/office/drawing/2014/main" id="{5FF563AA-1FE3-075C-900D-5331A1D63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04" y="1613209"/>
            <a:ext cx="2191527" cy="115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59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Google Shape;1854;p20">
            <a:extLst>
              <a:ext uri="{FF2B5EF4-FFF2-40B4-BE49-F238E27FC236}">
                <a16:creationId xmlns:a16="http://schemas.microsoft.com/office/drawing/2014/main" id="{5C7C9D62-07E6-7DFF-218C-ED696C4A6E84}"/>
              </a:ext>
            </a:extLst>
          </p:cNvPr>
          <p:cNvSpPr txBox="1"/>
          <p:nvPr/>
        </p:nvSpPr>
        <p:spPr>
          <a:xfrm>
            <a:off x="992555" y="1738129"/>
            <a:ext cx="2696683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Java Virtual Machine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" name="Google Shape;1855;p20">
            <a:extLst>
              <a:ext uri="{FF2B5EF4-FFF2-40B4-BE49-F238E27FC236}">
                <a16:creationId xmlns:a16="http://schemas.microsoft.com/office/drawing/2014/main" id="{18BF9C2B-CF04-9701-1804-D6FCBFD9E3BD}"/>
              </a:ext>
            </a:extLst>
          </p:cNvPr>
          <p:cNvSpPr txBox="1"/>
          <p:nvPr/>
        </p:nvSpPr>
        <p:spPr>
          <a:xfrm>
            <a:off x="992555" y="1413448"/>
            <a:ext cx="2263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JVM</a:t>
            </a:r>
            <a:endParaRPr sz="20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7" name="Google Shape;1860;p20">
            <a:extLst>
              <a:ext uri="{FF2B5EF4-FFF2-40B4-BE49-F238E27FC236}">
                <a16:creationId xmlns:a16="http://schemas.microsoft.com/office/drawing/2014/main" id="{3278FE0F-F1A5-4F11-1FCE-712DD1149740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3820024" y="1616273"/>
            <a:ext cx="915873" cy="1666604"/>
          </a:xfrm>
          <a:prstGeom prst="bentConnector2">
            <a:avLst/>
          </a:prstGeom>
          <a:noFill/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88810A06-4DA4-386C-0038-159DCA96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70" y="2907511"/>
            <a:ext cx="7916983" cy="1332692"/>
          </a:xfrm>
          <a:prstGeom prst="rect">
            <a:avLst/>
          </a:prstGeom>
        </p:spPr>
      </p:pic>
      <p:pic>
        <p:nvPicPr>
          <p:cNvPr id="1028" name="Picture 4" descr="Video gif. A white and gray cat’s mouth is open wide in shock, like it’s gasping. It looks at us wide-eyed and then to the side as if to get a better look. ">
            <a:extLst>
              <a:ext uri="{FF2B5EF4-FFF2-40B4-BE49-F238E27FC236}">
                <a16:creationId xmlns:a16="http://schemas.microsoft.com/office/drawing/2014/main" id="{4CD63135-00C3-9A94-F5C4-99494E9C4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136" y="3788022"/>
            <a:ext cx="1836617" cy="127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Java virtual machine?">
            <a:extLst>
              <a:ext uri="{FF2B5EF4-FFF2-40B4-BE49-F238E27FC236}">
                <a16:creationId xmlns:a16="http://schemas.microsoft.com/office/drawing/2014/main" id="{C5E0A867-F8F2-163B-A986-19D334984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714" y="680517"/>
            <a:ext cx="2923659" cy="211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682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81D809-C496-DF92-3D18-7DBBE4F706DE}"/>
              </a:ext>
            </a:extLst>
          </p:cNvPr>
          <p:cNvSpPr txBox="1"/>
          <p:nvPr/>
        </p:nvSpPr>
        <p:spPr>
          <a:xfrm>
            <a:off x="1266059" y="782839"/>
            <a:ext cx="45794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Usos del lenguaje </a:t>
            </a:r>
            <a:r>
              <a:rPr lang="en"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{</a:t>
            </a:r>
            <a:endParaRPr lang="es-ES" sz="30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</p:txBody>
      </p:sp>
      <p:grpSp>
        <p:nvGrpSpPr>
          <p:cNvPr id="4" name="Google Shape;260;p18">
            <a:extLst>
              <a:ext uri="{FF2B5EF4-FFF2-40B4-BE49-F238E27FC236}">
                <a16:creationId xmlns:a16="http://schemas.microsoft.com/office/drawing/2014/main" id="{31A1832C-779A-444C-91E5-5442142EC791}"/>
              </a:ext>
            </a:extLst>
          </p:cNvPr>
          <p:cNvGrpSpPr/>
          <p:nvPr/>
        </p:nvGrpSpPr>
        <p:grpSpPr>
          <a:xfrm>
            <a:off x="8140696" y="1470652"/>
            <a:ext cx="506100" cy="2956675"/>
            <a:chOff x="1413525" y="1247575"/>
            <a:chExt cx="506100" cy="2956675"/>
          </a:xfrm>
        </p:grpSpPr>
        <p:cxnSp>
          <p:nvCxnSpPr>
            <p:cNvPr id="5" name="Google Shape;261;p18">
              <a:extLst>
                <a:ext uri="{FF2B5EF4-FFF2-40B4-BE49-F238E27FC236}">
                  <a16:creationId xmlns:a16="http://schemas.microsoft.com/office/drawing/2014/main" id="{86628A07-112A-8FFC-E1A4-565B4C13F435}"/>
                </a:ext>
              </a:extLst>
            </p:cNvPr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262;p18">
              <a:extLst>
                <a:ext uri="{FF2B5EF4-FFF2-40B4-BE49-F238E27FC236}">
                  <a16:creationId xmlns:a16="http://schemas.microsoft.com/office/drawing/2014/main" id="{227C6CFA-6792-A90A-BE4E-1895AE9F7FEC}"/>
                </a:ext>
              </a:extLst>
            </p:cNvPr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34DBD5-7858-2B28-7090-15D277FD06C2}"/>
              </a:ext>
            </a:extLst>
          </p:cNvPr>
          <p:cNvSpPr txBox="1"/>
          <p:nvPr/>
        </p:nvSpPr>
        <p:spPr>
          <a:xfrm>
            <a:off x="1629127" y="1470652"/>
            <a:ext cx="5498182" cy="329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Aplicaciones empresariales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Sobre todo para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backend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servidor. 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Big data 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Spark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 Hadoop utilizan java por detrás.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Aplicaciones de escritorio 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JavaFX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parte visual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Temas de seguridad,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IoT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…</a:t>
            </a: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7475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4" y="688004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Distribuciones Java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000985" y="173738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467856" y="1556892"/>
            <a:ext cx="4820249" cy="3045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Java 8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Oracle 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 Java SE (standard) y Java EE (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enterprise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)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JDK 25 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 Kit de desarrollo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OpenJDK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Amazon </a:t>
            </a: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Corretto</a:t>
            </a:r>
            <a:endParaRPr lang="es-ES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909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4" y="688004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Editores (IDEs)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6173743" y="1724103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467856" y="1318898"/>
            <a:ext cx="482024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615B2BA-A4C7-2197-107A-FFF923BEEF9D}"/>
              </a:ext>
            </a:extLst>
          </p:cNvPr>
          <p:cNvSpPr txBox="1"/>
          <p:nvPr/>
        </p:nvSpPr>
        <p:spPr>
          <a:xfrm>
            <a:off x="1606544" y="1444683"/>
            <a:ext cx="4820249" cy="336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Netbeans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Eclipse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BlueJ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Visual Studio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Code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InteliJ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…</a:t>
            </a: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036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4" y="688004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Instalación IDE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567492" y="173805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467856" y="1318898"/>
            <a:ext cx="482024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594297-27DB-32E0-D8D7-7F3C6AF675C4}"/>
              </a:ext>
            </a:extLst>
          </p:cNvPr>
          <p:cNvSpPr txBox="1"/>
          <p:nvPr/>
        </p:nvSpPr>
        <p:spPr>
          <a:xfrm>
            <a:off x="1305104" y="1385718"/>
            <a:ext cx="5552893" cy="314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Descargarlo 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https://jdk.java.net/25/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Descomprimirlo en: C:\Java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Añadir una variable de </a:t>
            </a:r>
            <a:r>
              <a:rPr lang="es-ES" sz="160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entorno JAVA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_HOME = C:\Java\jdk-25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Verificar variable (PS):  $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env:JAVA_HOME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Descargar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InteliJ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https://www.jetbrains.com/idea/download/other.html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+mj-lt"/>
              <a:buAutoNum type="arabicPeriod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6ED1A1B-3F1E-F464-81C3-822AF27AA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384" y="839585"/>
            <a:ext cx="2101471" cy="135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122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4" y="688004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INTELIJ IDE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467856" y="1318898"/>
            <a:ext cx="482024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  <p:pic>
        <p:nvPicPr>
          <p:cNvPr id="1026" name="Picture 2" descr="IntelliJ IDEA - Wikipedia, la enciclopedia libre">
            <a:extLst>
              <a:ext uri="{FF2B5EF4-FFF2-40B4-BE49-F238E27FC236}">
                <a16:creationId xmlns:a16="http://schemas.microsoft.com/office/drawing/2014/main" id="{D3594854-D739-2BAC-4B68-0F0832E19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244" y="1444683"/>
            <a:ext cx="2436492" cy="243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401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32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Módulo1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Introducción&amp;Entorno.css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Google Shape;252;p18">
            <a:extLst>
              <a:ext uri="{FF2B5EF4-FFF2-40B4-BE49-F238E27FC236}">
                <a16:creationId xmlns:a16="http://schemas.microsoft.com/office/drawing/2014/main" id="{E8CB427E-4C95-B9DB-264F-A2DB00F68D1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87960" y="900946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Quiz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5" name="Picture 2" descr="Imágenes de Quiz - Descarga gratuita en Freepik">
            <a:extLst>
              <a:ext uri="{FF2B5EF4-FFF2-40B4-BE49-F238E27FC236}">
                <a16:creationId xmlns:a16="http://schemas.microsoft.com/office/drawing/2014/main" id="{5F9144ED-6AEB-ECB2-A5A0-9764F7C3F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345" y="2041025"/>
            <a:ext cx="4657593" cy="189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oogle Shape;260;p18">
            <a:extLst>
              <a:ext uri="{FF2B5EF4-FFF2-40B4-BE49-F238E27FC236}">
                <a16:creationId xmlns:a16="http://schemas.microsoft.com/office/drawing/2014/main" id="{CF596A64-3CC1-2ECF-658A-C8FB6F091065}"/>
              </a:ext>
            </a:extLst>
          </p:cNvPr>
          <p:cNvGrpSpPr/>
          <p:nvPr/>
        </p:nvGrpSpPr>
        <p:grpSpPr>
          <a:xfrm>
            <a:off x="7650551" y="1418446"/>
            <a:ext cx="506100" cy="2956675"/>
            <a:chOff x="1413525" y="1247575"/>
            <a:chExt cx="506100" cy="2956675"/>
          </a:xfrm>
        </p:grpSpPr>
        <p:cxnSp>
          <p:nvCxnSpPr>
            <p:cNvPr id="7" name="Google Shape;261;p18">
              <a:extLst>
                <a:ext uri="{FF2B5EF4-FFF2-40B4-BE49-F238E27FC236}">
                  <a16:creationId xmlns:a16="http://schemas.microsoft.com/office/drawing/2014/main" id="{434DE3B0-B10D-6363-3A2C-D9158D45391A}"/>
                </a:ext>
              </a:extLst>
            </p:cNvPr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262;p18">
              <a:extLst>
                <a:ext uri="{FF2B5EF4-FFF2-40B4-BE49-F238E27FC236}">
                  <a16:creationId xmlns:a16="http://schemas.microsoft.com/office/drawing/2014/main" id="{00253EF1-EA0D-C4C5-1559-1A7AA1021044}"/>
                </a:ext>
              </a:extLst>
            </p:cNvPr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8449294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1265</Words>
  <Application>Microsoft Office PowerPoint</Application>
  <PresentationFormat>Presentación en pantalla (16:9)</PresentationFormat>
  <Paragraphs>197</Paragraphs>
  <Slides>16</Slides>
  <Notes>16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Wingdings</vt:lpstr>
      <vt:lpstr>Symbol</vt:lpstr>
      <vt:lpstr>Candara</vt:lpstr>
      <vt:lpstr>Arial</vt:lpstr>
      <vt:lpstr>Fira Code</vt:lpstr>
      <vt:lpstr>Aptos</vt:lpstr>
      <vt:lpstr>Programming Language Workshop for Beginners by Slidesgo</vt:lpstr>
      <vt:lpstr>{</vt:lpstr>
      <vt:lpstr>INTRODUCCIÓN Y ENTORNO</vt:lpstr>
      <vt:lpstr>¿Qué aprenderemos? {</vt:lpstr>
      <vt:lpstr>¿Por qué estudiar JAVA? {</vt:lpstr>
      <vt:lpstr>Presentación de PowerPoint</vt:lpstr>
      <vt:lpstr>{</vt:lpstr>
      <vt:lpstr>Un poco de historia… {</vt:lpstr>
      <vt:lpstr>Qué lo hace tan atractivo {</vt:lpstr>
      <vt:lpstr>Presentación de PowerPoint</vt:lpstr>
      <vt:lpstr>Presentación de PowerPoint</vt:lpstr>
      <vt:lpstr>Distribuciones Java {</vt:lpstr>
      <vt:lpstr>Editores (IDEs) {</vt:lpstr>
      <vt:lpstr>Instalación IDE {</vt:lpstr>
      <vt:lpstr>INTELIJ IDE</vt:lpstr>
      <vt:lpstr>PRÁCTICA</vt:lpstr>
      <vt:lpstr>Quiz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Josu Motoso</dc:creator>
  <cp:lastModifiedBy>Josu Motoso</cp:lastModifiedBy>
  <cp:revision>23</cp:revision>
  <dcterms:modified xsi:type="dcterms:W3CDTF">2025-12-07T08:40:03Z</dcterms:modified>
</cp:coreProperties>
</file>