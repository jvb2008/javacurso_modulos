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3"/>
  </p:notesMasterIdLst>
  <p:sldIdLst>
    <p:sldId id="314" r:id="rId2"/>
    <p:sldId id="256" r:id="rId3"/>
    <p:sldId id="305" r:id="rId4"/>
    <p:sldId id="306" r:id="rId5"/>
    <p:sldId id="307" r:id="rId6"/>
    <p:sldId id="308" r:id="rId7"/>
    <p:sldId id="309" r:id="rId8"/>
    <p:sldId id="310" r:id="rId9"/>
    <p:sldId id="313" r:id="rId10"/>
    <p:sldId id="312" r:id="rId11"/>
    <p:sldId id="311" r:id="rId12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8AD038-0CC6-4834-A986-352E8F01496E}">
  <a:tblStyle styleId="{478AD038-0CC6-4834-A986-352E8F0149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77778" autoAdjust="0"/>
  </p:normalViewPr>
  <p:slideViewPr>
    <p:cSldViewPr snapToGrid="0">
      <p:cViewPr varScale="1">
        <p:scale>
          <a:sx n="85" d="100"/>
          <a:sy n="85" d="100"/>
        </p:scale>
        <p:origin x="1378" y="48"/>
      </p:cViewPr>
      <p:guideLst/>
    </p:cSldViewPr>
  </p:slideViewPr>
  <p:outlineViewPr>
    <p:cViewPr>
      <p:scale>
        <a:sx n="33" d="100"/>
        <a:sy n="33" d="100"/>
      </p:scale>
      <p:origin x="0" y="-4829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4649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9710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5870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149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4712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0198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2854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5600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u="sng" dirty="0"/>
          </a:p>
        </p:txBody>
      </p:sp>
    </p:spTree>
    <p:extLst>
      <p:ext uri="{BB962C8B-B14F-4D97-AF65-F5344CB8AC3E}">
        <p14:creationId xmlns:p14="http://schemas.microsoft.com/office/powerpoint/2010/main" val="26865292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00782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19313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413525" y="3317438"/>
            <a:ext cx="3158400" cy="7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413525" y="1736863"/>
            <a:ext cx="56823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0" y="455070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3"/>
          </p:nvPr>
        </p:nvSpPr>
        <p:spPr>
          <a:xfrm>
            <a:off x="1413525" y="2325113"/>
            <a:ext cx="56823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subTitle" idx="1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ubTitle" idx="2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subTitle" idx="3"/>
          </p:nvPr>
        </p:nvSpPr>
        <p:spPr>
          <a:xfrm>
            <a:off x="1143250" y="2612625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"/>
          <p:cNvSpPr txBox="1">
            <a:spLocks noGrp="1"/>
          </p:cNvSpPr>
          <p:nvPr>
            <p:ph type="subTitle" idx="1"/>
          </p:nvPr>
        </p:nvSpPr>
        <p:spPr>
          <a:xfrm>
            <a:off x="1674500" y="2736550"/>
            <a:ext cx="3627600" cy="10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7"/>
          <p:cNvSpPr txBox="1">
            <a:spLocks noGrp="1"/>
          </p:cNvSpPr>
          <p:nvPr>
            <p:ph type="title"/>
          </p:nvPr>
        </p:nvSpPr>
        <p:spPr>
          <a:xfrm>
            <a:off x="1154275" y="1137700"/>
            <a:ext cx="3969900" cy="14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3" name="Google Shape;153;p9"/>
          <p:cNvSpPr txBox="1">
            <a:spLocks noGrp="1"/>
          </p:cNvSpPr>
          <p:nvPr>
            <p:ph type="subTitle" idx="1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4" name="Google Shape;154;p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1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1"/>
          <p:cNvSpPr txBox="1">
            <a:spLocks noGrp="1"/>
          </p:cNvSpPr>
          <p:nvPr>
            <p:ph type="title" hasCustomPrompt="1"/>
          </p:nvPr>
        </p:nvSpPr>
        <p:spPr>
          <a:xfrm>
            <a:off x="1084225" y="1311425"/>
            <a:ext cx="6379200" cy="10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4" name="Google Shape;174;p11"/>
          <p:cNvSpPr txBox="1">
            <a:spLocks noGrp="1"/>
          </p:cNvSpPr>
          <p:nvPr>
            <p:ph type="body" idx="1"/>
          </p:nvPr>
        </p:nvSpPr>
        <p:spPr>
          <a:xfrm>
            <a:off x="1554225" y="2486925"/>
            <a:ext cx="6689100" cy="52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>
                <a:solidFill>
                  <a:schemeClr val="accent3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4" name="Google Shape;214;p1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5" name="Google Shape;215;p1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1" name="Google Shape;231;p1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2" name="Google Shape;232;p1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4" name="Google Shape;234;p1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8" name="Google Shape;238;p1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  <p:sldLayoutId id="214748366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54;p18">
            <a:extLst>
              <a:ext uri="{FF2B5EF4-FFF2-40B4-BE49-F238E27FC236}">
                <a16:creationId xmlns:a16="http://schemas.microsoft.com/office/drawing/2014/main" id="{BD11792E-DB1B-6B29-E401-4A576AC3E3BC}"/>
              </a:ext>
            </a:extLst>
          </p:cNvPr>
          <p:cNvSpPr txBox="1">
            <a:spLocks/>
          </p:cNvSpPr>
          <p:nvPr/>
        </p:nvSpPr>
        <p:spPr>
          <a:xfrm>
            <a:off x="127094" y="4679064"/>
            <a:ext cx="5285293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s-ES" sz="1400">
                <a:solidFill>
                  <a:schemeClr val="accent1"/>
                </a:solidFill>
              </a:rPr>
              <a:t>Introducción a la programación en java</a:t>
            </a:r>
            <a:endParaRPr lang="es-ES" sz="1400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Technology Code GIF by The Coding Space RD">
            <a:extLst>
              <a:ext uri="{FF2B5EF4-FFF2-40B4-BE49-F238E27FC236}">
                <a16:creationId xmlns:a16="http://schemas.microsoft.com/office/drawing/2014/main" id="{684DF84A-72D3-DC15-CC8D-65294DF11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784" y="864948"/>
            <a:ext cx="3413603" cy="3413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252;p18">
            <a:extLst>
              <a:ext uri="{FF2B5EF4-FFF2-40B4-BE49-F238E27FC236}">
                <a16:creationId xmlns:a16="http://schemas.microsoft.com/office/drawing/2014/main" id="{7B990F70-D7D8-215E-515D-C983149AB3F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771452" y="1730727"/>
            <a:ext cx="3135481" cy="16820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MÉTODOS</a:t>
            </a:r>
            <a:endParaRPr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844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¿Qué aprenderemos?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68921" y="1536172"/>
            <a:ext cx="4637870" cy="2453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Cómo se definen, cómo reciben datos y cómo devuelven resultados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Un </a:t>
            </a:r>
            <a:r>
              <a:rPr lang="es-ES" sz="1600" b="1" dirty="0"/>
              <a:t>método</a:t>
            </a:r>
            <a:r>
              <a:rPr lang="es-ES" sz="1600" dirty="0"/>
              <a:t> es un bloque de código que realiza una acción.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Entrada </a:t>
            </a:r>
            <a:r>
              <a:rPr lang="es-ES" sz="1600" dirty="0">
                <a:sym typeface="Wingdings" panose="05000000000000000000" pitchFamily="2" charset="2"/>
              </a:rPr>
              <a:t> [ Método ]  Salida</a:t>
            </a:r>
            <a:endParaRPr lang="es-ES" sz="1600" dirty="0"/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Módulo7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Métodos.css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6491447" y="152084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1032" name="Picture 8">
            <a:extLst>
              <a:ext uri="{FF2B5EF4-FFF2-40B4-BE49-F238E27FC236}">
                <a16:creationId xmlns:a16="http://schemas.microsoft.com/office/drawing/2014/main" id="{B64FF7F1-DC52-2559-C5DF-66F670DE3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5298" y="2388015"/>
            <a:ext cx="1766571" cy="1924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Definición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68920" y="1573166"/>
            <a:ext cx="6928412" cy="2739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Sirve para organizar y reutilizar código.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Se invoca cuando queremos que ejecute su tarea.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Puede recibir datos (parámetros).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Puede devolver un resultado (valor de retorno).</a:t>
            </a: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Módulo7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Métodos.css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433197" y="1194925"/>
            <a:ext cx="841742" cy="3678450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4393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19" y="830650"/>
            <a:ext cx="6589747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Métodos sin retorno (void)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68920" y="1573166"/>
            <a:ext cx="6928412" cy="30214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Se utilizan cuando el método </a:t>
            </a:r>
            <a:r>
              <a:rPr lang="es-ES" sz="1600" b="1" dirty="0"/>
              <a:t>solo realiza una acción</a:t>
            </a:r>
            <a:r>
              <a:rPr lang="es-ES" sz="1600" dirty="0"/>
              <a:t> pero </a:t>
            </a:r>
            <a:r>
              <a:rPr lang="es-ES" sz="1600" b="1" dirty="0"/>
              <a:t>no devuelve resultado</a:t>
            </a:r>
            <a:r>
              <a:rPr lang="es-ES" sz="1600" dirty="0"/>
              <a:t>.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s-ES" sz="1600" dirty="0"/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Módulo7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Métodos.css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433197" y="1194925"/>
            <a:ext cx="841742" cy="3678450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64398BAE-ECAA-D016-4721-44FD9A663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272" y="2755524"/>
            <a:ext cx="4159506" cy="103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60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19" y="830650"/>
            <a:ext cx="6589747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Métodos sin retorno (void)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68920" y="1573166"/>
            <a:ext cx="6928412" cy="30214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Se utilizan cuando el método </a:t>
            </a:r>
            <a:r>
              <a:rPr lang="es-ES" sz="1600" b="1" dirty="0"/>
              <a:t>solo realiza una acción</a:t>
            </a:r>
            <a:r>
              <a:rPr lang="es-ES" sz="1600" dirty="0"/>
              <a:t> pero </a:t>
            </a:r>
            <a:r>
              <a:rPr lang="es-ES" sz="1600" b="1" dirty="0"/>
              <a:t>no devuelve resultado</a:t>
            </a:r>
            <a:r>
              <a:rPr lang="es-ES" sz="1600" dirty="0"/>
              <a:t>.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s-ES" sz="1600" dirty="0"/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Módulo7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Métodos.css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433197" y="1194925"/>
            <a:ext cx="841742" cy="3678450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FA2A3521-EDA0-FEF9-E19E-3CAB1FC0C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750" y="2381051"/>
            <a:ext cx="3246696" cy="212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090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19" y="830650"/>
            <a:ext cx="6589747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Métodos con parámetros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68920" y="1573166"/>
            <a:ext cx="6928412" cy="30214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Los </a:t>
            </a:r>
            <a:r>
              <a:rPr lang="es-ES" sz="1600" b="1" dirty="0"/>
              <a:t>parámetros</a:t>
            </a:r>
            <a:r>
              <a:rPr lang="es-ES" sz="1600" dirty="0"/>
              <a:t> permiten enviar información al método</a:t>
            </a: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Módulo7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Métodos.css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433197" y="1194925"/>
            <a:ext cx="841742" cy="3678450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625F7D89-2F19-44F8-3C87-84FCA6A99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231" y="2346702"/>
            <a:ext cx="3771050" cy="185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0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19" y="830650"/>
            <a:ext cx="6589747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Sobrecarga de métodos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68920" y="1573166"/>
            <a:ext cx="6928412" cy="30214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La </a:t>
            </a:r>
            <a:r>
              <a:rPr lang="es-ES" sz="1600" b="1" dirty="0"/>
              <a:t>sobrecarga</a:t>
            </a:r>
            <a:r>
              <a:rPr lang="es-ES" sz="1600" dirty="0"/>
              <a:t> permite usar </a:t>
            </a:r>
            <a:r>
              <a:rPr lang="es-ES" sz="1600" b="1" dirty="0"/>
              <a:t>el mismo nombre</a:t>
            </a:r>
            <a:r>
              <a:rPr lang="es-ES" sz="1600" dirty="0"/>
              <a:t> de método, pero con </a:t>
            </a:r>
            <a:r>
              <a:rPr lang="es-ES" sz="1600" b="1" dirty="0"/>
              <a:t>parámetros diferentes</a:t>
            </a:r>
            <a:endParaRPr lang="es-ES" sz="1600" dirty="0"/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Módulo7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Métodos.css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433197" y="1194925"/>
            <a:ext cx="841742" cy="3678450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226B8E74-D417-3B63-1F14-DD3FDC09D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013" y="2306884"/>
            <a:ext cx="2517558" cy="216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326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18" y="830650"/>
            <a:ext cx="7154191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Métodos con valor de retorno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68920" y="1573166"/>
            <a:ext cx="6928412" cy="30214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Un método puede devolver un resultado usando </a:t>
            </a:r>
            <a:r>
              <a:rPr lang="es-ES" sz="1600" dirty="0" err="1"/>
              <a:t>return</a:t>
            </a:r>
            <a:endParaRPr lang="es-ES" sz="1600" dirty="0"/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Módulo7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Métodos.css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433197" y="1194925"/>
            <a:ext cx="841742" cy="3678450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AA6D611B-3786-1AEB-C205-86261A902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756" y="2304018"/>
            <a:ext cx="2606266" cy="172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630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18" y="830650"/>
            <a:ext cx="7154191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Buenas prácticas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68920" y="1573166"/>
            <a:ext cx="6928412" cy="22221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Utilizar nombres descriptivos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Un método = una sola responsabilidad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Limitar cantidad de parámetros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 err="1"/>
              <a:t>JavaDoc</a:t>
            </a:r>
            <a:r>
              <a:rPr lang="es-ES" sz="1600" dirty="0"/>
              <a:t> para documentar lo importante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Usar sobrecarga para realizar la misma intención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s-ES" sz="1600" dirty="0"/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Módulo7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Métodos.css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433197" y="1194925"/>
            <a:ext cx="841742" cy="3678450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7886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3596457" y="2365338"/>
            <a:ext cx="6139568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PRÁCTICA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Módulo7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Métodos.css</a:t>
            </a:r>
            <a:endParaRPr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832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12803" y="688004"/>
            <a:ext cx="6362591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Quiz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Módulo7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Métodos.css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641787" y="191670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1026" name="Picture 2" descr="Imágenes de Quiz - Descarga gratuita en Freepik">
            <a:extLst>
              <a:ext uri="{FF2B5EF4-FFF2-40B4-BE49-F238E27FC236}">
                <a16:creationId xmlns:a16="http://schemas.microsoft.com/office/drawing/2014/main" id="{5ACABE33-0C5E-8520-0B1D-DD3565ED0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188" y="1828083"/>
            <a:ext cx="4657593" cy="1892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6355231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320</Words>
  <Application>Microsoft Office PowerPoint</Application>
  <PresentationFormat>Presentación en pantalla (16:9)</PresentationFormat>
  <Paragraphs>73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Symbol</vt:lpstr>
      <vt:lpstr>Arial</vt:lpstr>
      <vt:lpstr>Fira Code</vt:lpstr>
      <vt:lpstr>Wingdings</vt:lpstr>
      <vt:lpstr>Programming Language Workshop for Beginners by Slidesgo</vt:lpstr>
      <vt:lpstr>MÉTODOS</vt:lpstr>
      <vt:lpstr>¿Qué aprenderemos? {</vt:lpstr>
      <vt:lpstr>Definición {</vt:lpstr>
      <vt:lpstr>Métodos sin retorno (void) {</vt:lpstr>
      <vt:lpstr>Métodos sin retorno (void) {</vt:lpstr>
      <vt:lpstr>Métodos con parámetros {</vt:lpstr>
      <vt:lpstr>Sobrecarga de métodos {</vt:lpstr>
      <vt:lpstr>Métodos con valor de retorno {</vt:lpstr>
      <vt:lpstr>Buenas prácticas {</vt:lpstr>
      <vt:lpstr>PRÁCTICA</vt:lpstr>
      <vt:lpstr>Quiz {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Josu Motoso</dc:creator>
  <cp:lastModifiedBy>Josu Motoso</cp:lastModifiedBy>
  <cp:revision>19</cp:revision>
  <dcterms:modified xsi:type="dcterms:W3CDTF">2025-11-01T10:35:08Z</dcterms:modified>
</cp:coreProperties>
</file>