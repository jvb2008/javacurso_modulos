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3"/>
  </p:notesMasterIdLst>
  <p:sldIdLst>
    <p:sldId id="314" r:id="rId2"/>
    <p:sldId id="256" r:id="rId3"/>
    <p:sldId id="305" r:id="rId4"/>
    <p:sldId id="315" r:id="rId5"/>
    <p:sldId id="316" r:id="rId6"/>
    <p:sldId id="317" r:id="rId7"/>
    <p:sldId id="318" r:id="rId8"/>
    <p:sldId id="319" r:id="rId9"/>
    <p:sldId id="306" r:id="rId10"/>
    <p:sldId id="329" r:id="rId11"/>
    <p:sldId id="321" r:id="rId12"/>
    <p:sldId id="320" r:id="rId13"/>
    <p:sldId id="322" r:id="rId14"/>
    <p:sldId id="323" r:id="rId15"/>
    <p:sldId id="324" r:id="rId16"/>
    <p:sldId id="325" r:id="rId17"/>
    <p:sldId id="326" r:id="rId18"/>
    <p:sldId id="327" r:id="rId19"/>
    <p:sldId id="328" r:id="rId20"/>
    <p:sldId id="312" r:id="rId21"/>
    <p:sldId id="311" r:id="rId22"/>
  </p:sldIdLst>
  <p:sldSz cx="9144000" cy="5143500" type="screen16x9"/>
  <p:notesSz cx="6858000" cy="9144000"/>
  <p:embeddedFontLst>
    <p:embeddedFont>
      <p:font typeface="Fira Code" panose="020B0809050000020004" pitchFamily="49"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8AD038-0CC6-4834-A986-352E8F01496E}">
  <a:tblStyle styleId="{478AD038-0CC6-4834-A986-352E8F0149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7628" autoAdjust="0"/>
  </p:normalViewPr>
  <p:slideViewPr>
    <p:cSldViewPr snapToGrid="0">
      <p:cViewPr varScale="1">
        <p:scale>
          <a:sx n="73" d="100"/>
          <a:sy n="73" d="100"/>
        </p:scale>
        <p:origin x="1738" y="67"/>
      </p:cViewPr>
      <p:guideLst/>
    </p:cSldViewPr>
  </p:slideViewPr>
  <p:outlineViewPr>
    <p:cViewPr>
      <p:scale>
        <a:sx n="33" d="100"/>
        <a:sy n="33" d="100"/>
      </p:scale>
      <p:origin x="0" y="-4829"/>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4649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s-ES" dirty="0"/>
              <a:t>Paradigma que se explica muy bien con JAVA</a:t>
            </a:r>
          </a:p>
          <a:p>
            <a:pPr marL="171450" lvl="0" indent="-171450" algn="l" rtl="0">
              <a:spcBef>
                <a:spcPts val="0"/>
              </a:spcBef>
              <a:spcAft>
                <a:spcPts val="0"/>
              </a:spcAft>
              <a:buFontTx/>
              <a:buChar char="-"/>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9710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s-ES" dirty="0"/>
              <a:t>Queremos crear una similitud entre el mundo real y el código</a:t>
            </a:r>
          </a:p>
          <a:p>
            <a:pPr marL="171450" lvl="0" indent="-171450" algn="l" rtl="0">
              <a:spcBef>
                <a:spcPts val="0"/>
              </a:spcBef>
              <a:spcAft>
                <a:spcPts val="0"/>
              </a:spcAft>
              <a:buFontTx/>
              <a:buChar char="-"/>
            </a:pPr>
            <a:r>
              <a:rPr lang="es-ES" dirty="0"/>
              <a:t>Es la plantilla que utilizaremos para después crear los objetos</a:t>
            </a:r>
          </a:p>
          <a:p>
            <a:pPr marL="171450" lvl="0" indent="-171450" algn="l" rtl="0">
              <a:spcBef>
                <a:spcPts val="0"/>
              </a:spcBef>
              <a:spcAft>
                <a:spcPts val="0"/>
              </a:spcAft>
              <a:buFontTx/>
              <a:buChar char="-"/>
            </a:pPr>
            <a:r>
              <a:rPr lang="es-ES" dirty="0"/>
              <a:t>La buena practica es que genere las clases en un fichero nuevo</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 </a:t>
            </a:r>
            <a:endParaRPr dirty="0"/>
          </a:p>
        </p:txBody>
      </p:sp>
    </p:spTree>
    <p:extLst>
      <p:ext uri="{BB962C8B-B14F-4D97-AF65-F5344CB8AC3E}">
        <p14:creationId xmlns:p14="http://schemas.microsoft.com/office/powerpoint/2010/main" val="4250519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659030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1677254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3787502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endParaRPr u="sng" dirty="0"/>
          </a:p>
        </p:txBody>
      </p:sp>
    </p:spTree>
    <p:extLst>
      <p:ext uri="{BB962C8B-B14F-4D97-AF65-F5344CB8AC3E}">
        <p14:creationId xmlns:p14="http://schemas.microsoft.com/office/powerpoint/2010/main" val="1236422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lang="es-ES" dirty="0">
              <a:sym typeface="Wingdings" panose="05000000000000000000" pitchFamily="2" charset="2"/>
            </a:endParaRPr>
          </a:p>
        </p:txBody>
      </p:sp>
    </p:spTree>
    <p:extLst>
      <p:ext uri="{BB962C8B-B14F-4D97-AF65-F5344CB8AC3E}">
        <p14:creationId xmlns:p14="http://schemas.microsoft.com/office/powerpoint/2010/main" val="3515870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lang="es-ES" dirty="0">
              <a:sym typeface="Wingdings" panose="05000000000000000000" pitchFamily="2" charset="2"/>
            </a:endParaRPr>
          </a:p>
        </p:txBody>
      </p:sp>
    </p:spTree>
    <p:extLst>
      <p:ext uri="{BB962C8B-B14F-4D97-AF65-F5344CB8AC3E}">
        <p14:creationId xmlns:p14="http://schemas.microsoft.com/office/powerpoint/2010/main" val="2290477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endParaRPr u="sng" dirty="0"/>
          </a:p>
        </p:txBody>
      </p:sp>
    </p:spTree>
    <p:extLst>
      <p:ext uri="{BB962C8B-B14F-4D97-AF65-F5344CB8AC3E}">
        <p14:creationId xmlns:p14="http://schemas.microsoft.com/office/powerpoint/2010/main" val="223302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28650" lvl="1" indent="-171450" algn="l" rtl="0">
              <a:spcBef>
                <a:spcPts val="0"/>
              </a:spcBef>
              <a:spcAft>
                <a:spcPts val="0"/>
              </a:spcAft>
              <a:buFontTx/>
              <a:buChar char="-"/>
            </a:pPr>
            <a:endParaRPr lang="es-ES" dirty="0">
              <a:sym typeface="Wingdings" panose="05000000000000000000" pitchFamily="2" charset="2"/>
            </a:endParaRPr>
          </a:p>
        </p:txBody>
      </p:sp>
    </p:spTree>
    <p:extLst>
      <p:ext uri="{BB962C8B-B14F-4D97-AF65-F5344CB8AC3E}">
        <p14:creationId xmlns:p14="http://schemas.microsoft.com/office/powerpoint/2010/main" val="3697360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endParaRPr u="sng" dirty="0"/>
          </a:p>
        </p:txBody>
      </p:sp>
    </p:spTree>
    <p:extLst>
      <p:ext uri="{BB962C8B-B14F-4D97-AF65-F5344CB8AC3E}">
        <p14:creationId xmlns:p14="http://schemas.microsoft.com/office/powerpoint/2010/main" val="1046258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28650" lvl="1" indent="-171450" algn="l" rtl="0">
              <a:spcBef>
                <a:spcPts val="0"/>
              </a:spcBef>
              <a:spcAft>
                <a:spcPts val="0"/>
              </a:spcAft>
              <a:buFontTx/>
              <a:buChar char="-"/>
            </a:pPr>
            <a:r>
              <a:rPr lang="es-ES" dirty="0">
                <a:sym typeface="Wingdings" panose="05000000000000000000" pitchFamily="2" charset="2"/>
              </a:rPr>
              <a:t>También otros polimorfismos como el de interfaz. </a:t>
            </a:r>
          </a:p>
          <a:p>
            <a:pPr marL="1085850" lvl="2" indent="-171450" algn="l" rtl="0">
              <a:spcBef>
                <a:spcPts val="0"/>
              </a:spcBef>
              <a:spcAft>
                <a:spcPts val="0"/>
              </a:spcAft>
              <a:buFontTx/>
              <a:buChar char="-"/>
            </a:pPr>
            <a:r>
              <a:rPr lang="es-ES" dirty="0">
                <a:sym typeface="Wingdings" panose="05000000000000000000" pitchFamily="2" charset="2"/>
              </a:rPr>
              <a:t>Una clase no puede heredar de varias clases padres. </a:t>
            </a:r>
          </a:p>
          <a:p>
            <a:pPr marL="1085850" lvl="2" indent="-171450" algn="l" rtl="0">
              <a:spcBef>
                <a:spcPts val="0"/>
              </a:spcBef>
              <a:spcAft>
                <a:spcPts val="0"/>
              </a:spcAft>
              <a:buFontTx/>
              <a:buChar char="-"/>
            </a:pPr>
            <a:r>
              <a:rPr lang="es-ES" dirty="0">
                <a:sym typeface="Wingdings" panose="05000000000000000000" pitchFamily="2" charset="2"/>
              </a:rPr>
              <a:t>Pero con las interfaces. Una clase puede implementar varias interfaces</a:t>
            </a:r>
          </a:p>
          <a:p>
            <a:pPr marL="1085850" lvl="2" indent="-171450" algn="l" rtl="0">
              <a:spcBef>
                <a:spcPts val="0"/>
              </a:spcBef>
              <a:spcAft>
                <a:spcPts val="0"/>
              </a:spcAft>
              <a:buFontTx/>
              <a:buChar char="-"/>
            </a:pPr>
            <a:r>
              <a:rPr lang="es-ES" dirty="0">
                <a:sym typeface="Wingdings" panose="05000000000000000000" pitchFamily="2" charset="2"/>
              </a:rPr>
              <a:t>En una interfaz se define que se puede hacer pero el cómo lo define la clase</a:t>
            </a:r>
          </a:p>
          <a:p>
            <a:pPr marL="628650" lvl="1" indent="-171450" algn="l" rtl="0">
              <a:spcBef>
                <a:spcPts val="0"/>
              </a:spcBef>
              <a:spcAft>
                <a:spcPts val="0"/>
              </a:spcAft>
              <a:buFontTx/>
              <a:buChar char="-"/>
            </a:pPr>
            <a:r>
              <a:rPr lang="es-ES" dirty="0">
                <a:sym typeface="Wingdings" panose="05000000000000000000" pitchFamily="2" charset="2"/>
              </a:rPr>
              <a:t>Utilizando el polimorfismo nos aseguramos a no crear otro método que haga los mismo que el método en la clase del padre. Sino que </a:t>
            </a:r>
            <a:r>
              <a:rPr lang="es-ES" dirty="0" err="1">
                <a:sym typeface="Wingdings" panose="05000000000000000000" pitchFamily="2" charset="2"/>
              </a:rPr>
              <a:t>sobreescribimos</a:t>
            </a:r>
            <a:r>
              <a:rPr lang="es-ES" dirty="0">
                <a:sym typeface="Wingdings" panose="05000000000000000000" pitchFamily="2" charset="2"/>
              </a:rPr>
              <a:t> el método de la clase padre con una implementación diferente.</a:t>
            </a:r>
          </a:p>
          <a:p>
            <a:pPr marL="628650" lvl="1" indent="-171450" algn="l" rtl="0">
              <a:spcBef>
                <a:spcPts val="0"/>
              </a:spcBef>
              <a:spcAft>
                <a:spcPts val="0"/>
              </a:spcAft>
              <a:buFontTx/>
              <a:buChar char="-"/>
            </a:pPr>
            <a:r>
              <a:rPr lang="es-ES" dirty="0">
                <a:sym typeface="Wingdings" panose="05000000000000000000" pitchFamily="2" charset="2"/>
              </a:rPr>
              <a:t>Y en el caso del polimorfismo de sobrecarga nos aseguramos que el método va a tener el mismo nombre y vamos a llamar a una implementación u otra según los parámetros que se le pase.</a:t>
            </a:r>
          </a:p>
          <a:p>
            <a:pPr marL="628650" lvl="1" indent="-171450" algn="l" rtl="0">
              <a:spcBef>
                <a:spcPts val="0"/>
              </a:spcBef>
              <a:spcAft>
                <a:spcPts val="0"/>
              </a:spcAft>
              <a:buFontTx/>
              <a:buChar char="-"/>
            </a:pPr>
            <a:endParaRPr lang="es-ES" dirty="0">
              <a:sym typeface="Wingdings" panose="05000000000000000000" pitchFamily="2" charset="2"/>
            </a:endParaRPr>
          </a:p>
        </p:txBody>
      </p:sp>
    </p:spTree>
    <p:extLst>
      <p:ext uri="{BB962C8B-B14F-4D97-AF65-F5344CB8AC3E}">
        <p14:creationId xmlns:p14="http://schemas.microsoft.com/office/powerpoint/2010/main" val="3871944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1" indent="0" algn="l" rtl="0">
              <a:spcBef>
                <a:spcPts val="0"/>
              </a:spcBef>
              <a:spcAft>
                <a:spcPts val="0"/>
              </a:spcAft>
              <a:buFontTx/>
              <a:buNone/>
            </a:pPr>
            <a:endParaRPr lang="es-ES" dirty="0">
              <a:sym typeface="Wingdings" panose="05000000000000000000" pitchFamily="2" charset="2"/>
            </a:endParaRPr>
          </a:p>
        </p:txBody>
      </p:sp>
    </p:spTree>
    <p:extLst>
      <p:ext uri="{BB962C8B-B14F-4D97-AF65-F5344CB8AC3E}">
        <p14:creationId xmlns:p14="http://schemas.microsoft.com/office/powerpoint/2010/main" val="3069529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endParaRPr u="sng" dirty="0"/>
          </a:p>
        </p:txBody>
      </p:sp>
    </p:spTree>
    <p:extLst>
      <p:ext uri="{BB962C8B-B14F-4D97-AF65-F5344CB8AC3E}">
        <p14:creationId xmlns:p14="http://schemas.microsoft.com/office/powerpoint/2010/main" val="839941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28650" lvl="1" indent="-171450" algn="l" rtl="0">
              <a:spcBef>
                <a:spcPts val="0"/>
              </a:spcBef>
              <a:spcAft>
                <a:spcPts val="0"/>
              </a:spcAft>
              <a:buFontTx/>
              <a:buChar char="-"/>
            </a:pPr>
            <a:r>
              <a:rPr lang="es-ES" dirty="0">
                <a:sym typeface="Wingdings" panose="05000000000000000000" pitchFamily="2" charset="2"/>
              </a:rPr>
              <a:t>Es la forma de blindar nuestras clases, la definición de la clase y de los métodos de esa clase se hace en la clases pero la implementación la hace las subclases</a:t>
            </a:r>
          </a:p>
          <a:p>
            <a:pPr marL="628650" lvl="1" indent="-171450" algn="l" rtl="0">
              <a:spcBef>
                <a:spcPts val="0"/>
              </a:spcBef>
              <a:spcAft>
                <a:spcPts val="0"/>
              </a:spcAft>
              <a:buFontTx/>
              <a:buChar char="-"/>
            </a:pPr>
            <a:r>
              <a:rPr lang="es-ES" dirty="0">
                <a:sym typeface="Wingdings" panose="05000000000000000000" pitchFamily="2" charset="2"/>
              </a:rPr>
              <a:t>De esa manera nos aseguramos que no podemos instanciar la clase padre para </a:t>
            </a:r>
            <a:r>
              <a:rPr lang="es-ES" dirty="0" err="1">
                <a:sym typeface="Wingdings" panose="05000000000000000000" pitchFamily="2" charset="2"/>
              </a:rPr>
              <a:t>asi</a:t>
            </a:r>
            <a:r>
              <a:rPr lang="es-ES" dirty="0">
                <a:sym typeface="Wingdings" panose="05000000000000000000" pitchFamily="2" charset="2"/>
              </a:rPr>
              <a:t> que siempre tengamos que instanciar una de las </a:t>
            </a:r>
            <a:r>
              <a:rPr lang="es-ES" dirty="0" err="1">
                <a:sym typeface="Wingdings" panose="05000000000000000000" pitchFamily="2" charset="2"/>
              </a:rPr>
              <a:t>sublclases</a:t>
            </a:r>
            <a:r>
              <a:rPr lang="es-ES" dirty="0">
                <a:sym typeface="Wingdings" panose="05000000000000000000" pitchFamily="2" charset="2"/>
              </a:rPr>
              <a:t>. </a:t>
            </a:r>
          </a:p>
          <a:p>
            <a:pPr marL="628650" lvl="1" indent="-171450" algn="l" rtl="0">
              <a:spcBef>
                <a:spcPts val="0"/>
              </a:spcBef>
              <a:spcAft>
                <a:spcPts val="0"/>
              </a:spcAft>
              <a:buFontTx/>
              <a:buChar char="-"/>
            </a:pPr>
            <a:r>
              <a:rPr lang="es-ES" dirty="0">
                <a:sym typeface="Wingdings" panose="05000000000000000000" pitchFamily="2" charset="2"/>
              </a:rPr>
              <a:t>Las interfaces definen las cualidades, habilidades la implementación la hace la clase.</a:t>
            </a:r>
          </a:p>
          <a:p>
            <a:pPr marL="628650" lvl="1" indent="-171450" algn="l" rtl="0">
              <a:spcBef>
                <a:spcPts val="0"/>
              </a:spcBef>
              <a:spcAft>
                <a:spcPts val="0"/>
              </a:spcAft>
              <a:buFontTx/>
              <a:buChar char="-"/>
            </a:pPr>
            <a:r>
              <a:rPr lang="es-ES" dirty="0">
                <a:sym typeface="Wingdings" panose="05000000000000000000" pitchFamily="2" charset="2"/>
              </a:rPr>
              <a:t>A veces existen subclases que no siempre tienen todas las habilidades. Por eso utilizamos interfaces para que ciertas subclases implementen algunas habilidades (y no las implementen todas las subclases). Perro es animal, y pájaro también pero perro no vuela. Por lo tanto el pájaro tiene implementa la interfaz de volar.</a:t>
            </a:r>
          </a:p>
          <a:p>
            <a:pPr marL="628650" lvl="1" indent="-171450" algn="l" rtl="0">
              <a:spcBef>
                <a:spcPts val="0"/>
              </a:spcBef>
              <a:spcAft>
                <a:spcPts val="0"/>
              </a:spcAft>
              <a:buFontTx/>
              <a:buChar char="-"/>
            </a:pPr>
            <a:r>
              <a:rPr lang="es-ES" dirty="0">
                <a:sym typeface="Wingdings" panose="05000000000000000000" pitchFamily="2" charset="2"/>
              </a:rPr>
              <a:t>Una clase puede implementar mas de una interfaz</a:t>
            </a:r>
          </a:p>
          <a:p>
            <a:pPr marL="628650" lvl="1" indent="-171450" algn="l" rtl="0">
              <a:spcBef>
                <a:spcPts val="0"/>
              </a:spcBef>
              <a:spcAft>
                <a:spcPts val="0"/>
              </a:spcAft>
              <a:buFontTx/>
              <a:buChar char="-"/>
            </a:pPr>
            <a:r>
              <a:rPr lang="es-ES" dirty="0">
                <a:sym typeface="Wingdings" panose="05000000000000000000" pitchFamily="2" charset="2"/>
              </a:rPr>
              <a:t>No es posible instanciar interfaces.</a:t>
            </a:r>
          </a:p>
          <a:p>
            <a:pPr marL="628650" lvl="1" indent="-171450" algn="l" rtl="0">
              <a:spcBef>
                <a:spcPts val="0"/>
              </a:spcBef>
              <a:spcAft>
                <a:spcPts val="0"/>
              </a:spcAft>
              <a:buFontTx/>
              <a:buChar char="-"/>
            </a:pPr>
            <a:r>
              <a:rPr lang="es-ES" dirty="0">
                <a:sym typeface="Wingdings" panose="05000000000000000000" pitchFamily="2" charset="2"/>
              </a:rPr>
              <a:t>Clase abstracta: se utiliza cuando se comparte código común</a:t>
            </a:r>
          </a:p>
          <a:p>
            <a:pPr marL="628650" lvl="1" indent="-171450" algn="l" rtl="0">
              <a:spcBef>
                <a:spcPts val="0"/>
              </a:spcBef>
              <a:spcAft>
                <a:spcPts val="0"/>
              </a:spcAft>
              <a:buFontTx/>
              <a:buChar char="-"/>
            </a:pPr>
            <a:r>
              <a:rPr lang="es-ES" dirty="0">
                <a:sym typeface="Wingdings" panose="05000000000000000000" pitchFamily="2" charset="2"/>
              </a:rPr>
              <a:t>Interfaz: cuando solo algunas subclases tienen estas habilidades</a:t>
            </a:r>
          </a:p>
        </p:txBody>
      </p:sp>
    </p:spTree>
    <p:extLst>
      <p:ext uri="{BB962C8B-B14F-4D97-AF65-F5344CB8AC3E}">
        <p14:creationId xmlns:p14="http://schemas.microsoft.com/office/powerpoint/2010/main" val="3647401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 typeface="+mj-lt"/>
              <a:buNone/>
            </a:pPr>
            <a:endParaRPr u="sng" dirty="0"/>
          </a:p>
        </p:txBody>
      </p:sp>
    </p:spTree>
    <p:extLst>
      <p:ext uri="{BB962C8B-B14F-4D97-AF65-F5344CB8AC3E}">
        <p14:creationId xmlns:p14="http://schemas.microsoft.com/office/powerpoint/2010/main" val="561882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28650" lvl="1" indent="-171450" algn="l" rtl="0">
              <a:spcBef>
                <a:spcPts val="0"/>
              </a:spcBef>
              <a:spcAft>
                <a:spcPts val="0"/>
              </a:spcAft>
              <a:buFontTx/>
              <a:buChar char="-"/>
            </a:pPr>
            <a:endParaRPr lang="es-ES" dirty="0">
              <a:sym typeface="Wingdings" panose="05000000000000000000" pitchFamily="2" charset="2"/>
            </a:endParaRPr>
          </a:p>
        </p:txBody>
      </p:sp>
    </p:spTree>
    <p:extLst>
      <p:ext uri="{BB962C8B-B14F-4D97-AF65-F5344CB8AC3E}">
        <p14:creationId xmlns:p14="http://schemas.microsoft.com/office/powerpoint/2010/main" val="1654619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Font typeface="+mj-lt"/>
              <a:buAutoNum type="arabicPeriod"/>
            </a:pPr>
            <a:endParaRPr u="sng" dirty="0"/>
          </a:p>
        </p:txBody>
      </p:sp>
    </p:spTree>
    <p:extLst>
      <p:ext uri="{BB962C8B-B14F-4D97-AF65-F5344CB8AC3E}">
        <p14:creationId xmlns:p14="http://schemas.microsoft.com/office/powerpoint/2010/main" val="2686529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s-ES" dirty="0">
              <a:sym typeface="Wingdings" panose="05000000000000000000" pitchFamily="2" charset="2"/>
            </a:endParaRPr>
          </a:p>
        </p:txBody>
      </p:sp>
    </p:spTree>
    <p:extLst>
      <p:ext uri="{BB962C8B-B14F-4D97-AF65-F5344CB8AC3E}">
        <p14:creationId xmlns:p14="http://schemas.microsoft.com/office/powerpoint/2010/main" val="1600782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413525" y="1119313"/>
            <a:ext cx="5682300" cy="517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3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413525" y="3317438"/>
            <a:ext cx="3158400" cy="70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ubTitle" idx="2"/>
          </p:nvPr>
        </p:nvSpPr>
        <p:spPr>
          <a:xfrm>
            <a:off x="1413525" y="1736863"/>
            <a:ext cx="5682300" cy="4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 name="Google Shape;15;p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6" name="Google Shape;16;p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 name="Google Shape;17;p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8" name="Google Shape;18;p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9" name="Google Shape;19;p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 name="Google Shape;20;p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1" name="Google Shape;21;p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 name="Google Shape;22;p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 name="Google Shape;23;p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 name="Google Shape;24;p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 name="Google Shape;25;p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6" name="Google Shape;26;p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 name="Google Shape;27;p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28" name="Google Shape;28;p2"/>
          <p:cNvSpPr/>
          <p:nvPr/>
        </p:nvSpPr>
        <p:spPr>
          <a:xfrm>
            <a:off x="4572000" y="455070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txBox="1">
            <a:spLocks noGrp="1"/>
          </p:cNvSpPr>
          <p:nvPr>
            <p:ph type="subTitle" idx="3"/>
          </p:nvPr>
        </p:nvSpPr>
        <p:spPr>
          <a:xfrm>
            <a:off x="1413525" y="2325113"/>
            <a:ext cx="5682300" cy="4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2"/>
        <p:cNvGrpSpPr/>
        <p:nvPr/>
      </p:nvGrpSpPr>
      <p:grpSpPr>
        <a:xfrm>
          <a:off x="0" y="0"/>
          <a:ext cx="0" cy="0"/>
          <a:chOff x="0" y="0"/>
          <a:chExt cx="0" cy="0"/>
        </a:xfrm>
      </p:grpSpPr>
      <p:sp>
        <p:nvSpPr>
          <p:cNvPr id="113" name="Google Shape;113;p7"/>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txBox="1">
            <a:spLocks noGrp="1"/>
          </p:cNvSpPr>
          <p:nvPr>
            <p:ph type="subTitle" idx="1"/>
          </p:nvPr>
        </p:nvSpPr>
        <p:spPr>
          <a:xfrm>
            <a:off x="1674500" y="2736550"/>
            <a:ext cx="3627600" cy="1017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600"/>
              <a:buNone/>
              <a:defRPr>
                <a:solidFill>
                  <a:schemeClr val="accent3"/>
                </a:solidFill>
              </a:defRPr>
            </a:lvl1pPr>
            <a:lvl2pPr lvl="1" rtl="0">
              <a:spcBef>
                <a:spcPts val="0"/>
              </a:spcBef>
              <a:spcAft>
                <a:spcPts val="0"/>
              </a:spcAft>
              <a:buClr>
                <a:schemeClr val="dk1"/>
              </a:buClr>
              <a:buSzPts val="1600"/>
              <a:buNone/>
              <a:defRPr sz="1600">
                <a:solidFill>
                  <a:schemeClr val="dk1"/>
                </a:solidFill>
              </a:defRPr>
            </a:lvl2pPr>
            <a:lvl3pPr lvl="2" rtl="0">
              <a:spcBef>
                <a:spcPts val="0"/>
              </a:spcBef>
              <a:spcAft>
                <a:spcPts val="0"/>
              </a:spcAft>
              <a:buClr>
                <a:schemeClr val="dk1"/>
              </a:buClr>
              <a:buSzPts val="1600"/>
              <a:buNone/>
              <a:defRPr sz="1600">
                <a:solidFill>
                  <a:schemeClr val="dk1"/>
                </a:solidFill>
              </a:defRPr>
            </a:lvl3pPr>
            <a:lvl4pPr lvl="3" rtl="0">
              <a:spcBef>
                <a:spcPts val="0"/>
              </a:spcBef>
              <a:spcAft>
                <a:spcPts val="0"/>
              </a:spcAft>
              <a:buClr>
                <a:schemeClr val="dk1"/>
              </a:buClr>
              <a:buSzPts val="1600"/>
              <a:buNone/>
              <a:defRPr sz="1600">
                <a:solidFill>
                  <a:schemeClr val="dk1"/>
                </a:solidFill>
              </a:defRPr>
            </a:lvl4pPr>
            <a:lvl5pPr lvl="4" rtl="0">
              <a:spcBef>
                <a:spcPts val="0"/>
              </a:spcBef>
              <a:spcAft>
                <a:spcPts val="0"/>
              </a:spcAft>
              <a:buClr>
                <a:schemeClr val="dk1"/>
              </a:buClr>
              <a:buSzPts val="1600"/>
              <a:buNone/>
              <a:defRPr sz="1600">
                <a:solidFill>
                  <a:schemeClr val="dk1"/>
                </a:solidFill>
              </a:defRPr>
            </a:lvl5pPr>
            <a:lvl6pPr lvl="5" rtl="0">
              <a:spcBef>
                <a:spcPts val="0"/>
              </a:spcBef>
              <a:spcAft>
                <a:spcPts val="0"/>
              </a:spcAft>
              <a:buClr>
                <a:schemeClr val="dk1"/>
              </a:buClr>
              <a:buSzPts val="1600"/>
              <a:buNone/>
              <a:defRPr sz="1600">
                <a:solidFill>
                  <a:schemeClr val="dk1"/>
                </a:solidFill>
              </a:defRPr>
            </a:lvl6pPr>
            <a:lvl7pPr lvl="6" rtl="0">
              <a:spcBef>
                <a:spcPts val="0"/>
              </a:spcBef>
              <a:spcAft>
                <a:spcPts val="0"/>
              </a:spcAft>
              <a:buClr>
                <a:schemeClr val="dk1"/>
              </a:buClr>
              <a:buSzPts val="1600"/>
              <a:buNone/>
              <a:defRPr sz="1600">
                <a:solidFill>
                  <a:schemeClr val="dk1"/>
                </a:solidFill>
              </a:defRPr>
            </a:lvl7pPr>
            <a:lvl8pPr lvl="7" rtl="0">
              <a:spcBef>
                <a:spcPts val="0"/>
              </a:spcBef>
              <a:spcAft>
                <a:spcPts val="0"/>
              </a:spcAft>
              <a:buClr>
                <a:schemeClr val="dk1"/>
              </a:buClr>
              <a:buSzPts val="1600"/>
              <a:buNone/>
              <a:defRPr sz="1600">
                <a:solidFill>
                  <a:schemeClr val="dk1"/>
                </a:solidFill>
              </a:defRPr>
            </a:lvl8pPr>
            <a:lvl9pPr lvl="8" rtl="0">
              <a:spcBef>
                <a:spcPts val="0"/>
              </a:spcBef>
              <a:spcAft>
                <a:spcPts val="0"/>
              </a:spcAft>
              <a:buClr>
                <a:schemeClr val="dk1"/>
              </a:buClr>
              <a:buSzPts val="1600"/>
              <a:buNone/>
              <a:defRPr sz="1600">
                <a:solidFill>
                  <a:schemeClr val="dk1"/>
                </a:solidFill>
              </a:defRPr>
            </a:lvl9pPr>
          </a:lstStyle>
          <a:p>
            <a:endParaRPr/>
          </a:p>
        </p:txBody>
      </p:sp>
      <p:sp>
        <p:nvSpPr>
          <p:cNvPr id="116" name="Google Shape;116;p7"/>
          <p:cNvSpPr txBox="1">
            <a:spLocks noGrp="1"/>
          </p:cNvSpPr>
          <p:nvPr>
            <p:ph type="title"/>
          </p:nvPr>
        </p:nvSpPr>
        <p:spPr>
          <a:xfrm>
            <a:off x="1154275" y="1137700"/>
            <a:ext cx="3969900" cy="1423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800"/>
              <a:buNone/>
              <a:defRPr>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7" name="Google Shape;117;p7"/>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18" name="Google Shape;118;p7"/>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19" name="Google Shape;119;p7"/>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20" name="Google Shape;120;p7"/>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21" name="Google Shape;121;p7"/>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22" name="Google Shape;122;p7"/>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23" name="Google Shape;123;p7"/>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24" name="Google Shape;124;p7"/>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25" name="Google Shape;125;p7"/>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26" name="Google Shape;126;p7"/>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27" name="Google Shape;127;p7"/>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28" name="Google Shape;128;p7"/>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29" name="Google Shape;129;p7"/>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30" name="Google Shape;130;p7"/>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1"/>
        <p:cNvGrpSpPr/>
        <p:nvPr/>
      </p:nvGrpSpPr>
      <p:grpSpPr>
        <a:xfrm>
          <a:off x="0" y="0"/>
          <a:ext cx="0" cy="0"/>
          <a:chOff x="0" y="0"/>
          <a:chExt cx="0" cy="0"/>
        </a:xfrm>
      </p:grpSpPr>
      <p:sp>
        <p:nvSpPr>
          <p:cNvPr id="132" name="Google Shape;132;p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txBox="1">
            <a:spLocks noGrp="1"/>
          </p:cNvSpPr>
          <p:nvPr>
            <p:ph type="title"/>
          </p:nvPr>
        </p:nvSpPr>
        <p:spPr>
          <a:xfrm>
            <a:off x="2673350" y="1194150"/>
            <a:ext cx="4281300" cy="16257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5" name="Google Shape;135;p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36" name="Google Shape;136;p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37" name="Google Shape;137;p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38" name="Google Shape;138;p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39" name="Google Shape;139;p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40" name="Google Shape;140;p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41" name="Google Shape;141;p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42" name="Google Shape;142;p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43" name="Google Shape;143;p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44" name="Google Shape;144;p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45" name="Google Shape;145;p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46" name="Google Shape;146;p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47" name="Google Shape;147;p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48" name="Google Shape;148;p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9"/>
        <p:cNvGrpSpPr/>
        <p:nvPr/>
      </p:nvGrpSpPr>
      <p:grpSpPr>
        <a:xfrm>
          <a:off x="0" y="0"/>
          <a:ext cx="0" cy="0"/>
          <a:chOff x="0" y="0"/>
          <a:chExt cx="0" cy="0"/>
        </a:xfrm>
      </p:grpSpPr>
      <p:sp>
        <p:nvSpPr>
          <p:cNvPr id="150" name="Google Shape;150;p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txBox="1">
            <a:spLocks noGrp="1"/>
          </p:cNvSpPr>
          <p:nvPr>
            <p:ph type="title"/>
          </p:nvPr>
        </p:nvSpPr>
        <p:spPr>
          <a:xfrm>
            <a:off x="1131500" y="621250"/>
            <a:ext cx="4045200" cy="5307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53" name="Google Shape;153;p9"/>
          <p:cNvSpPr txBox="1">
            <a:spLocks noGrp="1"/>
          </p:cNvSpPr>
          <p:nvPr>
            <p:ph type="subTitle" idx="1"/>
          </p:nvPr>
        </p:nvSpPr>
        <p:spPr>
          <a:xfrm>
            <a:off x="1593350" y="1574450"/>
            <a:ext cx="5539200" cy="1404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4" name="Google Shape;154;p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5" name="Google Shape;155;p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56" name="Google Shape;156;p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57" name="Google Shape;157;p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58" name="Google Shape;158;p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59" name="Google Shape;159;p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60" name="Google Shape;160;p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61" name="Google Shape;161;p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62" name="Google Shape;162;p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63" name="Google Shape;163;p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64" name="Google Shape;164;p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65" name="Google Shape;165;p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66" name="Google Shape;166;p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67" name="Google Shape;167;p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710125" y="542575"/>
            <a:ext cx="3861900" cy="14250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0"/>
        <p:cNvGrpSpPr/>
        <p:nvPr/>
      </p:nvGrpSpPr>
      <p:grpSpPr>
        <a:xfrm>
          <a:off x="0" y="0"/>
          <a:ext cx="0" cy="0"/>
          <a:chOff x="0" y="0"/>
          <a:chExt cx="0" cy="0"/>
        </a:xfrm>
      </p:grpSpPr>
      <p:sp>
        <p:nvSpPr>
          <p:cNvPr id="171" name="Google Shape;171;p1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txBox="1">
            <a:spLocks noGrp="1"/>
          </p:cNvSpPr>
          <p:nvPr>
            <p:ph type="title" hasCustomPrompt="1"/>
          </p:nvPr>
        </p:nvSpPr>
        <p:spPr>
          <a:xfrm>
            <a:off x="1084225" y="1311425"/>
            <a:ext cx="6379200" cy="1018500"/>
          </a:xfrm>
          <a:prstGeom prst="rect">
            <a:avLst/>
          </a:prstGeom>
        </p:spPr>
        <p:txBody>
          <a:bodyPr spcFirstLastPara="1" wrap="square" lIns="91425" tIns="91425" rIns="91425" bIns="91425" anchor="ctr" anchorCtr="0">
            <a:noAutofit/>
          </a:bodyPr>
          <a:lstStyle>
            <a:lvl1pPr lvl="0">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4" name="Google Shape;174;p11"/>
          <p:cNvSpPr txBox="1">
            <a:spLocks noGrp="1"/>
          </p:cNvSpPr>
          <p:nvPr>
            <p:ph type="body" idx="1"/>
          </p:nvPr>
        </p:nvSpPr>
        <p:spPr>
          <a:xfrm>
            <a:off x="1554225" y="2486925"/>
            <a:ext cx="6689100" cy="5280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800">
                <a:solidFill>
                  <a:schemeClr val="accent3"/>
                </a:solidFill>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75" name="Google Shape;175;p1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76" name="Google Shape;176;p1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77" name="Google Shape;177;p1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8" name="Google Shape;178;p1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79" name="Google Shape;179;p1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80" name="Google Shape;180;p1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81" name="Google Shape;181;p1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82" name="Google Shape;182;p1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83" name="Google Shape;183;p1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84" name="Google Shape;184;p1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85" name="Google Shape;185;p1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86" name="Google Shape;186;p1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87" name="Google Shape;187;p1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88" name="Google Shape;188;p1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8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
  <p:cSld name="CUSTOM_9">
    <p:spTree>
      <p:nvGrpSpPr>
        <p:cNvPr id="1" name="Shape 210"/>
        <p:cNvGrpSpPr/>
        <p:nvPr/>
      </p:nvGrpSpPr>
      <p:grpSpPr>
        <a:xfrm>
          <a:off x="0" y="0"/>
          <a:ext cx="0" cy="0"/>
          <a:chOff x="0" y="0"/>
          <a:chExt cx="0" cy="0"/>
        </a:xfrm>
      </p:grpSpPr>
      <p:sp>
        <p:nvSpPr>
          <p:cNvPr id="211" name="Google Shape;211;p1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4"/>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14" name="Google Shape;214;p1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15" name="Google Shape;215;p1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16" name="Google Shape;216;p1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17" name="Google Shape;217;p1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18" name="Google Shape;218;p1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19" name="Google Shape;219;p1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20" name="Google Shape;220;p1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1" name="Google Shape;221;p1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22" name="Google Shape;222;p1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23" name="Google Shape;223;p1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24" name="Google Shape;224;p1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25" name="Google Shape;225;p1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26" name="Google Shape;226;p1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227"/>
        <p:cNvGrpSpPr/>
        <p:nvPr/>
      </p:nvGrpSpPr>
      <p:grpSpPr>
        <a:xfrm>
          <a:off x="0" y="0"/>
          <a:ext cx="0" cy="0"/>
          <a:chOff x="0" y="0"/>
          <a:chExt cx="0" cy="0"/>
        </a:xfrm>
      </p:grpSpPr>
      <p:sp>
        <p:nvSpPr>
          <p:cNvPr id="228" name="Google Shape;228;p1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31" name="Google Shape;231;p1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32" name="Google Shape;232;p1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33" name="Google Shape;233;p1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34" name="Google Shape;234;p1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35" name="Google Shape;235;p1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36" name="Google Shape;236;p1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37" name="Google Shape;237;p1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38" name="Google Shape;238;p1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9" name="Google Shape;239;p1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0" name="Google Shape;240;p1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41" name="Google Shape;241;p1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42" name="Google Shape;242;p1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43" name="Google Shape;243;p1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marL="914400" lvl="1"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marL="1371600" lvl="2"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marL="1828800" lvl="3"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marL="2286000" lvl="4"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marL="2743200" lvl="5"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marL="3200400" lvl="6"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marL="3657600" lvl="7"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marL="4114800" lvl="8"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7" r:id="rId6"/>
    <p:sldLayoutId id="2147483658"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6" name="Google Shape;254;p18">
            <a:extLst>
              <a:ext uri="{FF2B5EF4-FFF2-40B4-BE49-F238E27FC236}">
                <a16:creationId xmlns:a16="http://schemas.microsoft.com/office/drawing/2014/main" id="{BD11792E-DB1B-6B29-E401-4A576AC3E3BC}"/>
              </a:ext>
            </a:extLst>
          </p:cNvPr>
          <p:cNvSpPr txBox="1">
            <a:spLocks/>
          </p:cNvSpPr>
          <p:nvPr/>
        </p:nvSpPr>
        <p:spPr>
          <a:xfrm>
            <a:off x="127094" y="4679064"/>
            <a:ext cx="5285293" cy="35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r>
              <a:rPr lang="es-ES" sz="1400">
                <a:solidFill>
                  <a:schemeClr val="accent1"/>
                </a:solidFill>
              </a:rPr>
              <a:t>Introducción a la programación en java</a:t>
            </a:r>
            <a:endParaRPr lang="es-ES" sz="1400" dirty="0">
              <a:solidFill>
                <a:schemeClr val="accent1"/>
              </a:solidFill>
            </a:endParaRPr>
          </a:p>
        </p:txBody>
      </p:sp>
      <p:pic>
        <p:nvPicPr>
          <p:cNvPr id="1026" name="Picture 2" descr="Technology Code GIF by The Coding Space RD">
            <a:extLst>
              <a:ext uri="{FF2B5EF4-FFF2-40B4-BE49-F238E27FC236}">
                <a16:creationId xmlns:a16="http://schemas.microsoft.com/office/drawing/2014/main" id="{684DF84A-72D3-DC15-CC8D-65294DF11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8784" y="864948"/>
            <a:ext cx="3413603" cy="3413603"/>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52;p18">
            <a:extLst>
              <a:ext uri="{FF2B5EF4-FFF2-40B4-BE49-F238E27FC236}">
                <a16:creationId xmlns:a16="http://schemas.microsoft.com/office/drawing/2014/main" id="{7B990F70-D7D8-215E-515D-C983149AB3FD}"/>
              </a:ext>
            </a:extLst>
          </p:cNvPr>
          <p:cNvSpPr txBox="1">
            <a:spLocks noGrp="1"/>
          </p:cNvSpPr>
          <p:nvPr>
            <p:ph type="ctrTitle"/>
          </p:nvPr>
        </p:nvSpPr>
        <p:spPr>
          <a:xfrm>
            <a:off x="5771452" y="1730727"/>
            <a:ext cx="3135481" cy="168204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2"/>
                </a:solidFill>
              </a:rPr>
              <a:t>Programación orientada a objetos</a:t>
            </a:r>
            <a:endParaRPr dirty="0">
              <a:solidFill>
                <a:schemeClr val="accent3"/>
              </a:solidFill>
            </a:endParaRPr>
          </a:p>
        </p:txBody>
      </p:sp>
    </p:spTree>
    <p:extLst>
      <p:ext uri="{BB962C8B-B14F-4D97-AF65-F5344CB8AC3E}">
        <p14:creationId xmlns:p14="http://schemas.microsoft.com/office/powerpoint/2010/main" val="432844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5682300"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¿Qué aprenderemos?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20" y="1536172"/>
            <a:ext cx="4824615" cy="2776678"/>
          </a:xfrm>
          <a:prstGeom prst="rect">
            <a:avLst/>
          </a:prstGeom>
        </p:spPr>
        <p:txBody>
          <a:bodyPr spcFirstLastPara="1" wrap="square" lIns="91425" tIns="91425" rIns="91425" bIns="91425" anchor="t" anchorCtr="0">
            <a:no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s-ES" sz="1600" dirty="0">
                <a:solidFill>
                  <a:schemeClr val="accent3"/>
                </a:solidFill>
                <a:latin typeface="Fira Code"/>
                <a:ea typeface="Fira Code"/>
                <a:cs typeface="Fira Code"/>
                <a:sym typeface="Fira Code"/>
              </a:rPr>
              <a:t>¿Qué es la POO?</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Clases y objetos</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Modificadores de acceso</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Herencia</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Polimorfismo</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Abstracción</a:t>
            </a:r>
          </a:p>
          <a:p>
            <a:pPr marL="342900" lvl="0" indent="-342900">
              <a:lnSpc>
                <a:spcPct val="115000"/>
              </a:lnSpc>
              <a:spcAft>
                <a:spcPts val="800"/>
              </a:spcAft>
              <a:buSzPts val="1000"/>
              <a:buFont typeface="Symbol" panose="05050102010706020507" pitchFamily="18" charset="2"/>
              <a:buChar char=""/>
              <a:tabLst>
                <a:tab pos="457200" algn="l"/>
              </a:tabLst>
            </a:pPr>
            <a:r>
              <a:rPr lang="es-ES" sz="1600" dirty="0"/>
              <a:t>Composición</a:t>
            </a:r>
          </a:p>
          <a:p>
            <a:pPr marL="342900" lvl="0" indent="-342900">
              <a:lnSpc>
                <a:spcPct val="115000"/>
              </a:lnSpc>
              <a:spcAft>
                <a:spcPts val="800"/>
              </a:spcAft>
              <a:buSzPts val="1000"/>
              <a:buFont typeface="Symbol" panose="05050102010706020507" pitchFamily="18" charset="2"/>
              <a:buChar char=""/>
              <a:tabLst>
                <a:tab pos="457200" algn="l"/>
              </a:tabLst>
            </a:pPr>
            <a:endParaRPr lang="es-ES" sz="1600" dirty="0">
              <a:solidFill>
                <a:schemeClr val="accent3"/>
              </a:solidFill>
              <a:latin typeface="Fira Code"/>
              <a:ea typeface="Fira Code"/>
              <a:cs typeface="Fira Code"/>
              <a:sym typeface="Fira Code"/>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6491447" y="1520840"/>
            <a:ext cx="506100" cy="2956675"/>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1032" name="Picture 8">
            <a:extLst>
              <a:ext uri="{FF2B5EF4-FFF2-40B4-BE49-F238E27FC236}">
                <a16:creationId xmlns:a16="http://schemas.microsoft.com/office/drawing/2014/main" id="{B64FF7F1-DC52-2559-C5DF-66F670DE3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5298" y="2388015"/>
            <a:ext cx="1766571" cy="19248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5682300"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¿Qué es la POO?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259192" y="1451246"/>
            <a:ext cx="6928412" cy="3084178"/>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La Programación Orientada a Objetos (POO) es un estilo de programación que organiza el código en torno a </a:t>
            </a:r>
            <a:r>
              <a:rPr lang="es-ES" sz="1600" b="1" dirty="0"/>
              <a:t>objetos: </a:t>
            </a:r>
          </a:p>
          <a:p>
            <a:pPr marL="342900" indent="-342900">
              <a:lnSpc>
                <a:spcPct val="115000"/>
              </a:lnSpc>
              <a:spcAft>
                <a:spcPts val="800"/>
              </a:spcAft>
              <a:buSzPts val="1000"/>
              <a:buFont typeface="Courier New" panose="02070309020205020404" pitchFamily="49" charset="0"/>
              <a:buChar char="o"/>
              <a:tabLst>
                <a:tab pos="457200" algn="l"/>
              </a:tabLst>
            </a:pPr>
            <a:r>
              <a:rPr lang="es-ES" sz="1600" dirty="0"/>
              <a:t>Atributos: características o datos</a:t>
            </a:r>
          </a:p>
          <a:p>
            <a:pPr marL="342900" indent="-342900">
              <a:lnSpc>
                <a:spcPct val="115000"/>
              </a:lnSpc>
              <a:spcAft>
                <a:spcPts val="800"/>
              </a:spcAft>
              <a:buSzPts val="1000"/>
              <a:buFont typeface="Courier New" panose="02070309020205020404" pitchFamily="49" charset="0"/>
              <a:buChar char="o"/>
              <a:tabLst>
                <a:tab pos="457200" algn="l"/>
              </a:tabLst>
            </a:pPr>
            <a:r>
              <a:rPr lang="es-ES" sz="1600" dirty="0"/>
              <a:t>Métodos: acciones o comportamientos</a:t>
            </a:r>
          </a:p>
          <a:p>
            <a:pPr marL="342900" indent="-342900">
              <a:lnSpc>
                <a:spcPct val="115000"/>
              </a:lnSpc>
              <a:spcAft>
                <a:spcPts val="800"/>
              </a:spcAft>
              <a:buSzPts val="1000"/>
              <a:buFont typeface="Courier New" panose="02070309020205020404" pitchFamily="49" charset="0"/>
              <a:buChar char="o"/>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La POO facilita la </a:t>
            </a:r>
            <a:r>
              <a:rPr lang="es-ES" sz="1600" b="1" dirty="0"/>
              <a:t>reutilización</a:t>
            </a:r>
            <a:r>
              <a:rPr lang="es-ES" sz="1600" dirty="0"/>
              <a:t>, la </a:t>
            </a:r>
            <a:r>
              <a:rPr lang="es-ES" sz="1600" b="1" dirty="0"/>
              <a:t>organización</a:t>
            </a:r>
            <a:r>
              <a:rPr lang="es-ES" sz="1600" dirty="0"/>
              <a:t> y el </a:t>
            </a:r>
            <a:r>
              <a:rPr lang="es-ES" sz="1600" b="1" dirty="0"/>
              <a:t>mantenimiento</a:t>
            </a:r>
            <a:r>
              <a:rPr lang="es-ES" sz="1600" dirty="0"/>
              <a:t> del código.</a:t>
            </a: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433197"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554393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5682300"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¿Qué es una clase?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259192" y="1451246"/>
            <a:ext cx="6928412" cy="3084178"/>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Una clase es un modelo o plantilla de la cual se crean objetos: atributos (datos) y métodos (acciones). </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Exceptuando los tipos de datos primitivos </a:t>
            </a:r>
            <a:r>
              <a:rPr lang="es-ES" sz="1600" dirty="0">
                <a:sym typeface="Wingdings" panose="05000000000000000000" pitchFamily="2" charset="2"/>
              </a:rPr>
              <a:t> lo demás se estructura mediante clases</a:t>
            </a: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723129"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3" name="Imagen 2">
            <a:extLst>
              <a:ext uri="{FF2B5EF4-FFF2-40B4-BE49-F238E27FC236}">
                <a16:creationId xmlns:a16="http://schemas.microsoft.com/office/drawing/2014/main" id="{4FB6368C-C381-DBE6-9275-C6052E09E776}"/>
              </a:ext>
            </a:extLst>
          </p:cNvPr>
          <p:cNvPicPr>
            <a:picLocks noChangeAspect="1"/>
          </p:cNvPicPr>
          <p:nvPr/>
        </p:nvPicPr>
        <p:blipFill>
          <a:blip r:embed="rId3"/>
          <a:stretch>
            <a:fillRect/>
          </a:stretch>
        </p:blipFill>
        <p:spPr>
          <a:xfrm>
            <a:off x="4723398" y="3204108"/>
            <a:ext cx="3894157" cy="1729890"/>
          </a:xfrm>
          <a:prstGeom prst="rect">
            <a:avLst/>
          </a:prstGeom>
        </p:spPr>
      </p:pic>
    </p:spTree>
    <p:extLst>
      <p:ext uri="{BB962C8B-B14F-4D97-AF65-F5344CB8AC3E}">
        <p14:creationId xmlns:p14="http://schemas.microsoft.com/office/powerpoint/2010/main" val="185969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5682300"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¿Qué es un objeto?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259192" y="1451246"/>
            <a:ext cx="6928412" cy="3084178"/>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Un </a:t>
            </a:r>
            <a:r>
              <a:rPr lang="es-ES" sz="1600" b="1" dirty="0"/>
              <a:t>objeto</a:t>
            </a:r>
            <a:r>
              <a:rPr lang="es-ES" sz="1600" dirty="0"/>
              <a:t> es una </a:t>
            </a:r>
            <a:r>
              <a:rPr lang="es-ES" sz="1600" b="1" dirty="0"/>
              <a:t>instancia</a:t>
            </a:r>
            <a:r>
              <a:rPr lang="es-ES" sz="1600" dirty="0"/>
              <a:t> de una clase. </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crea usando la palabra clave new</a:t>
            </a: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723129"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7" name="Imagen 6">
            <a:extLst>
              <a:ext uri="{FF2B5EF4-FFF2-40B4-BE49-F238E27FC236}">
                <a16:creationId xmlns:a16="http://schemas.microsoft.com/office/drawing/2014/main" id="{5B60C606-0E27-D489-0963-71F19FBDB172}"/>
              </a:ext>
            </a:extLst>
          </p:cNvPr>
          <p:cNvPicPr>
            <a:picLocks noChangeAspect="1"/>
          </p:cNvPicPr>
          <p:nvPr/>
        </p:nvPicPr>
        <p:blipFill>
          <a:blip r:embed="rId3"/>
          <a:stretch>
            <a:fillRect/>
          </a:stretch>
        </p:blipFill>
        <p:spPr>
          <a:xfrm>
            <a:off x="2874723" y="2350571"/>
            <a:ext cx="3380436" cy="2090862"/>
          </a:xfrm>
          <a:prstGeom prst="rect">
            <a:avLst/>
          </a:prstGeom>
        </p:spPr>
      </p:pic>
    </p:spTree>
    <p:extLst>
      <p:ext uri="{BB962C8B-B14F-4D97-AF65-F5344CB8AC3E}">
        <p14:creationId xmlns:p14="http://schemas.microsoft.com/office/powerpoint/2010/main" val="3103312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6153544"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¿Qué es un constructor?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259191" y="1451246"/>
            <a:ext cx="7507777" cy="3084178"/>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Su función es </a:t>
            </a:r>
            <a:r>
              <a:rPr lang="es-ES" sz="1600" b="1" dirty="0"/>
              <a:t>inicializar</a:t>
            </a:r>
            <a:r>
              <a:rPr lang="es-ES" sz="1600" dirty="0"/>
              <a:t> los atributos del objeto. </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Tiene el </a:t>
            </a:r>
            <a:r>
              <a:rPr lang="es-ES" sz="1600" b="1" dirty="0"/>
              <a:t>mismo nombre</a:t>
            </a:r>
            <a:r>
              <a:rPr lang="es-ES" sz="1600" dirty="0"/>
              <a:t> que la clase.</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ejecuta </a:t>
            </a:r>
            <a:r>
              <a:rPr lang="es-ES" sz="1600" b="1" dirty="0"/>
              <a:t>automáticamente</a:t>
            </a:r>
            <a:r>
              <a:rPr lang="es-ES" sz="1600" dirty="0"/>
              <a:t> cuando se crea un objeto.</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Palabra clave </a:t>
            </a:r>
            <a:r>
              <a:rPr lang="es-ES" sz="1600" i="1" dirty="0" err="1"/>
              <a:t>this</a:t>
            </a:r>
            <a:endParaRPr lang="es-ES" sz="1600" i="1"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723129"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5" name="Imagen 4">
            <a:extLst>
              <a:ext uri="{FF2B5EF4-FFF2-40B4-BE49-F238E27FC236}">
                <a16:creationId xmlns:a16="http://schemas.microsoft.com/office/drawing/2014/main" id="{9ABEAED0-0BD9-197D-7373-8932659678CC}"/>
              </a:ext>
            </a:extLst>
          </p:cNvPr>
          <p:cNvPicPr>
            <a:picLocks noChangeAspect="1"/>
          </p:cNvPicPr>
          <p:nvPr/>
        </p:nvPicPr>
        <p:blipFill>
          <a:blip r:embed="rId3"/>
          <a:stretch>
            <a:fillRect/>
          </a:stretch>
        </p:blipFill>
        <p:spPr>
          <a:xfrm>
            <a:off x="4949024" y="3512509"/>
            <a:ext cx="3817951" cy="845893"/>
          </a:xfrm>
          <a:prstGeom prst="rect">
            <a:avLst/>
          </a:prstGeom>
        </p:spPr>
      </p:pic>
      <p:pic>
        <p:nvPicPr>
          <p:cNvPr id="10" name="Imagen 9">
            <a:extLst>
              <a:ext uri="{FF2B5EF4-FFF2-40B4-BE49-F238E27FC236}">
                <a16:creationId xmlns:a16="http://schemas.microsoft.com/office/drawing/2014/main" id="{9B304C6B-1995-A0EB-3930-2F42DD3AAC26}"/>
              </a:ext>
            </a:extLst>
          </p:cNvPr>
          <p:cNvPicPr>
            <a:picLocks noChangeAspect="1"/>
          </p:cNvPicPr>
          <p:nvPr/>
        </p:nvPicPr>
        <p:blipFill>
          <a:blip r:embed="rId4"/>
          <a:stretch>
            <a:fillRect/>
          </a:stretch>
        </p:blipFill>
        <p:spPr>
          <a:xfrm>
            <a:off x="1341460" y="3387136"/>
            <a:ext cx="3422123" cy="971266"/>
          </a:xfrm>
          <a:prstGeom prst="rect">
            <a:avLst/>
          </a:prstGeom>
        </p:spPr>
      </p:pic>
    </p:spTree>
    <p:extLst>
      <p:ext uri="{BB962C8B-B14F-4D97-AF65-F5344CB8AC3E}">
        <p14:creationId xmlns:p14="http://schemas.microsoft.com/office/powerpoint/2010/main" val="1241441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20" y="830650"/>
            <a:ext cx="6153544"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Buenas prácticas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259191" y="1451246"/>
            <a:ext cx="7507777" cy="219416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Nombre de la clase y constructor </a:t>
            </a:r>
            <a:r>
              <a:rPr lang="es-ES" sz="1600" dirty="0" err="1"/>
              <a:t>UpperCamelCase</a:t>
            </a:r>
            <a:r>
              <a:rPr lang="es-ES" sz="1600" dirty="0"/>
              <a:t> (</a:t>
            </a:r>
            <a:r>
              <a:rPr lang="es-ES" sz="1600" dirty="0" err="1"/>
              <a:t>PascalCase</a:t>
            </a:r>
            <a:r>
              <a:rPr lang="es-ES" sz="1600" dirty="0"/>
              <a:t>)</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Atributos y métodos en </a:t>
            </a:r>
            <a:r>
              <a:rPr lang="es-ES" sz="1600" dirty="0" err="1"/>
              <a:t>cammelCase</a:t>
            </a: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Utilizar siempre un constructor</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Nombre de la clase igual que el nombre del fichero</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Utilizar la palabra </a:t>
            </a:r>
            <a:r>
              <a:rPr lang="es-ES" sz="1600" dirty="0" err="1"/>
              <a:t>this</a:t>
            </a:r>
            <a:r>
              <a:rPr lang="es-ES" sz="1600" dirty="0"/>
              <a:t>, nombre atributos = parámetros</a:t>
            </a:r>
          </a:p>
          <a:p>
            <a:pPr marL="0" indent="0">
              <a:lnSpc>
                <a:spcPct val="115000"/>
              </a:lnSpc>
              <a:spcAft>
                <a:spcPts val="800"/>
              </a:spcAft>
              <a:buSzPts val="1000"/>
              <a:tabLst>
                <a:tab pos="457200" algn="l"/>
              </a:tabLst>
            </a:pPr>
            <a:endParaRPr lang="es-ES" sz="1600" i="1"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723129"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306643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202707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Modificadores de acceso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20" y="1573166"/>
            <a:ext cx="6928412"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Aplicaciones seguras: la encapsulación consiste en </a:t>
            </a:r>
            <a:r>
              <a:rPr lang="es-ES" sz="1600" b="1" dirty="0"/>
              <a:t>proteger los atributos</a:t>
            </a:r>
            <a:r>
              <a:rPr lang="es-ES" sz="1600" dirty="0"/>
              <a:t> de una clase para evitar modificaciones directas.</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recomienda hacer </a:t>
            </a:r>
            <a:r>
              <a:rPr lang="es-ES" sz="1600" b="1" dirty="0"/>
              <a:t>todo privado</a:t>
            </a:r>
            <a:r>
              <a:rPr lang="es-ES" sz="1600" dirty="0"/>
              <a:t> de primeras.</a:t>
            </a:r>
          </a:p>
          <a:p>
            <a:pPr marL="342900" indent="-342900">
              <a:lnSpc>
                <a:spcPct val="115000"/>
              </a:lnSpc>
              <a:spcAft>
                <a:spcPts val="800"/>
              </a:spcAft>
              <a:buSzPts val="1000"/>
              <a:buFont typeface="Wingdings" panose="05000000000000000000" pitchFamily="2" charset="2"/>
              <a:buChar char="§"/>
              <a:tabLst>
                <a:tab pos="457200" algn="l"/>
              </a:tabLst>
            </a:pPr>
            <a:r>
              <a:rPr lang="es-ES" sz="1600" dirty="0"/>
              <a:t>Atributos </a:t>
            </a:r>
            <a:r>
              <a:rPr lang="es-ES" sz="1600" b="1" dirty="0" err="1"/>
              <a:t>private</a:t>
            </a:r>
            <a:r>
              <a:rPr lang="es-ES" sz="1600" b="1" dirty="0"/>
              <a:t>, </a:t>
            </a:r>
            <a:r>
              <a:rPr lang="es-ES" sz="1600" b="1" dirty="0" err="1"/>
              <a:t>protected</a:t>
            </a:r>
            <a:r>
              <a:rPr lang="es-ES" sz="1600" b="1" dirty="0"/>
              <a:t>, final</a:t>
            </a:r>
          </a:p>
          <a:p>
            <a:pPr marL="342900" indent="-342900">
              <a:lnSpc>
                <a:spcPct val="115000"/>
              </a:lnSpc>
              <a:spcAft>
                <a:spcPts val="800"/>
              </a:spcAft>
              <a:buSzPts val="1000"/>
              <a:buFont typeface="Wingdings" panose="05000000000000000000" pitchFamily="2" charset="2"/>
              <a:buChar char="§"/>
              <a:tabLst>
                <a:tab pos="457200" algn="l"/>
              </a:tabLst>
            </a:pPr>
            <a:r>
              <a:rPr lang="es-ES" sz="1600" dirty="0"/>
              <a:t>Métodos </a:t>
            </a:r>
            <a:r>
              <a:rPr lang="es-ES" sz="1600" b="1" dirty="0" err="1"/>
              <a:t>getters</a:t>
            </a:r>
            <a:r>
              <a:rPr lang="es-ES" sz="1600" b="1" dirty="0"/>
              <a:t> y </a:t>
            </a:r>
            <a:r>
              <a:rPr lang="es-ES" sz="1600" b="1" dirty="0" err="1"/>
              <a:t>setters</a:t>
            </a:r>
            <a:endParaRPr lang="es-ES" sz="1600" b="1"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433197"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181916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Modificadores de acceso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20" y="1573166"/>
            <a:ext cx="6928412" cy="3021412"/>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s-ES" sz="1600" b="1" dirty="0" err="1"/>
              <a:t>public</a:t>
            </a:r>
            <a:r>
              <a:rPr lang="es-ES" sz="1600" dirty="0"/>
              <a:t>: Accesible desde cualquier clase.</a:t>
            </a:r>
          </a:p>
          <a:p>
            <a:pPr>
              <a:buFont typeface="Arial" panose="020B0604020202020204" pitchFamily="34" charset="0"/>
              <a:buChar char="•"/>
            </a:pPr>
            <a:endParaRPr lang="es-ES" sz="1600" dirty="0"/>
          </a:p>
          <a:p>
            <a:pPr>
              <a:buFont typeface="Arial" panose="020B0604020202020204" pitchFamily="34" charset="0"/>
              <a:buChar char="•"/>
            </a:pPr>
            <a:r>
              <a:rPr lang="es-ES" sz="1600" b="1" dirty="0" err="1"/>
              <a:t>protected</a:t>
            </a:r>
            <a:r>
              <a:rPr lang="es-ES" sz="1600" dirty="0"/>
              <a:t>: Accesible dentro del mismo paquete y también por las subclases, incluso si están en otros paquetes.</a:t>
            </a:r>
          </a:p>
          <a:p>
            <a:pPr>
              <a:buFont typeface="Arial" panose="020B0604020202020204" pitchFamily="34" charset="0"/>
              <a:buChar char="•"/>
            </a:pPr>
            <a:endParaRPr lang="es-ES" sz="1600" dirty="0"/>
          </a:p>
          <a:p>
            <a:pPr>
              <a:buFont typeface="Arial" panose="020B0604020202020204" pitchFamily="34" charset="0"/>
              <a:buChar char="•"/>
            </a:pPr>
            <a:r>
              <a:rPr lang="es-ES" sz="1600" b="1" dirty="0"/>
              <a:t>default</a:t>
            </a:r>
            <a:r>
              <a:rPr lang="es-ES" sz="1600" dirty="0"/>
              <a:t> (sin modificador): Accesible solo dentro del mismo paquete.</a:t>
            </a:r>
          </a:p>
          <a:p>
            <a:pPr>
              <a:buFont typeface="Arial" panose="020B0604020202020204" pitchFamily="34" charset="0"/>
              <a:buChar char="•"/>
            </a:pPr>
            <a:endParaRPr lang="es-ES" sz="1600" dirty="0"/>
          </a:p>
          <a:p>
            <a:pPr>
              <a:buFont typeface="Arial" panose="020B0604020202020204" pitchFamily="34" charset="0"/>
              <a:buChar char="•"/>
            </a:pPr>
            <a:r>
              <a:rPr lang="es-ES" sz="1600" b="1" dirty="0" err="1"/>
              <a:t>private</a:t>
            </a:r>
            <a:r>
              <a:rPr lang="es-ES" sz="1600" dirty="0"/>
              <a:t>: Accesible únicamente dentro de la misma clase.</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433197"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1357962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1958348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Herencia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19" y="1449802"/>
            <a:ext cx="6928412"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Permite crear una clase basada en otra (“Es un”)</a:t>
            </a:r>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utiliza la palabra clave </a:t>
            </a:r>
            <a:r>
              <a:rPr lang="es-ES" sz="1600" i="1" dirty="0" err="1"/>
              <a:t>extends</a:t>
            </a:r>
            <a:endParaRPr lang="es-ES" sz="1600" i="1"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Reutilizar código</a:t>
            </a: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433197"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3" name="Imagen 2">
            <a:extLst>
              <a:ext uri="{FF2B5EF4-FFF2-40B4-BE49-F238E27FC236}">
                <a16:creationId xmlns:a16="http://schemas.microsoft.com/office/drawing/2014/main" id="{7E1D9123-D3AA-FEF4-28FB-EDC479521C91}"/>
              </a:ext>
            </a:extLst>
          </p:cNvPr>
          <p:cNvPicPr>
            <a:picLocks noChangeAspect="1"/>
          </p:cNvPicPr>
          <p:nvPr/>
        </p:nvPicPr>
        <p:blipFill>
          <a:blip r:embed="rId3"/>
          <a:stretch>
            <a:fillRect/>
          </a:stretch>
        </p:blipFill>
        <p:spPr>
          <a:xfrm>
            <a:off x="1462707" y="2678667"/>
            <a:ext cx="3707434" cy="1792547"/>
          </a:xfrm>
          <a:prstGeom prst="rect">
            <a:avLst/>
          </a:prstGeom>
        </p:spPr>
      </p:pic>
      <p:pic>
        <p:nvPicPr>
          <p:cNvPr id="7" name="Imagen 6">
            <a:extLst>
              <a:ext uri="{FF2B5EF4-FFF2-40B4-BE49-F238E27FC236}">
                <a16:creationId xmlns:a16="http://schemas.microsoft.com/office/drawing/2014/main" id="{3963FA87-CA5E-A935-3D2C-E8809597114D}"/>
              </a:ext>
            </a:extLst>
          </p:cNvPr>
          <p:cNvPicPr>
            <a:picLocks noChangeAspect="1"/>
          </p:cNvPicPr>
          <p:nvPr/>
        </p:nvPicPr>
        <p:blipFill>
          <a:blip r:embed="rId4"/>
          <a:stretch>
            <a:fillRect/>
          </a:stretch>
        </p:blipFill>
        <p:spPr>
          <a:xfrm>
            <a:off x="5263929" y="3190943"/>
            <a:ext cx="3139712" cy="1280271"/>
          </a:xfrm>
          <a:prstGeom prst="rect">
            <a:avLst/>
          </a:prstGeom>
        </p:spPr>
      </p:pic>
    </p:spTree>
    <p:extLst>
      <p:ext uri="{BB962C8B-B14F-4D97-AF65-F5344CB8AC3E}">
        <p14:creationId xmlns:p14="http://schemas.microsoft.com/office/powerpoint/2010/main" val="551158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1744826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Polimorfismo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19" y="1449802"/>
            <a:ext cx="6928412"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El </a:t>
            </a:r>
            <a:r>
              <a:rPr lang="es-ES" sz="1600" b="1" dirty="0"/>
              <a:t>polimorfismo</a:t>
            </a:r>
            <a:r>
              <a:rPr lang="es-ES" sz="1600" dirty="0"/>
              <a:t> permite que </a:t>
            </a:r>
            <a:r>
              <a:rPr lang="es-ES" sz="1600" b="1" dirty="0"/>
              <a:t>un mismo método</a:t>
            </a:r>
            <a:r>
              <a:rPr lang="es-ES" sz="1600" dirty="0"/>
              <a:t> tenga </a:t>
            </a:r>
            <a:r>
              <a:rPr lang="es-ES" sz="1600" b="1" dirty="0"/>
              <a:t>comportamientos diferentes</a:t>
            </a:r>
            <a:r>
              <a:rPr lang="es-ES" sz="1600" dirty="0"/>
              <a:t> dependiendo del </a:t>
            </a:r>
            <a:r>
              <a:rPr lang="es-ES" sz="1600" b="1" dirty="0"/>
              <a:t>objeto</a:t>
            </a:r>
            <a:r>
              <a:rPr lang="es-ES" sz="1600" dirty="0"/>
              <a:t> que lo use.</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Courier New" panose="02070309020205020404" pitchFamily="49" charset="0"/>
              <a:buChar char="o"/>
              <a:tabLst>
                <a:tab pos="457200" algn="l"/>
              </a:tabLst>
            </a:pPr>
            <a:r>
              <a:rPr lang="es-ES" sz="1600" dirty="0"/>
              <a:t>Polimorfismo por herencia (sobreescritura)</a:t>
            </a:r>
          </a:p>
          <a:p>
            <a:pPr marL="342900" indent="-342900">
              <a:lnSpc>
                <a:spcPct val="115000"/>
              </a:lnSpc>
              <a:spcAft>
                <a:spcPts val="800"/>
              </a:spcAft>
              <a:buSzPts val="1000"/>
              <a:buFont typeface="Courier New" panose="02070309020205020404" pitchFamily="49" charset="0"/>
              <a:buChar char="o"/>
              <a:tabLst>
                <a:tab pos="457200" algn="l"/>
              </a:tabLst>
            </a:pPr>
            <a:r>
              <a:rPr lang="es-ES" sz="1600" dirty="0"/>
              <a:t>Polimorfismo por sobrecarga</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433197"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1197426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Polimorfismo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18" y="1449802"/>
            <a:ext cx="7463097"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Permite que el programador se olvide de qué tipo de parámetros se pasan a un método con sobrecarga.</a:t>
            </a:r>
          </a:p>
          <a:p>
            <a:pPr marL="0" indent="0">
              <a:lnSpc>
                <a:spcPct val="115000"/>
              </a:lnSpc>
              <a:spcAft>
                <a:spcPts val="800"/>
              </a:spcAft>
              <a:buSzPts val="1000"/>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Hace un código mas limpio y fácil </a:t>
            </a:r>
          </a:p>
          <a:p>
            <a:pPr marL="342900" indent="-342900">
              <a:lnSpc>
                <a:spcPct val="115000"/>
              </a:lnSpc>
              <a:spcAft>
                <a:spcPts val="800"/>
              </a:spcAft>
              <a:buSzPts val="1000"/>
              <a:buFont typeface="Courier New" panose="02070309020205020404" pitchFamily="49" charset="0"/>
              <a:buChar char="o"/>
              <a:tabLst>
                <a:tab pos="457200" algn="l"/>
              </a:tabLst>
            </a:pPr>
            <a:r>
              <a:rPr lang="es-ES" sz="1600" dirty="0"/>
              <a:t>Sin necesidad de: </a:t>
            </a:r>
            <a:r>
              <a:rPr lang="es-ES" sz="1600" dirty="0" err="1"/>
              <a:t>if</a:t>
            </a:r>
            <a:r>
              <a:rPr lang="es-ES" sz="1600" dirty="0"/>
              <a:t> (</a:t>
            </a:r>
            <a:r>
              <a:rPr lang="es-ES" sz="1600" dirty="0" err="1"/>
              <a:t>obj</a:t>
            </a:r>
            <a:r>
              <a:rPr lang="es-ES" sz="1600" dirty="0"/>
              <a:t> </a:t>
            </a:r>
            <a:r>
              <a:rPr lang="es-ES" sz="1600" dirty="0" err="1"/>
              <a:t>instanceof</a:t>
            </a:r>
            <a:r>
              <a:rPr lang="es-ES" sz="1600" dirty="0"/>
              <a:t> </a:t>
            </a:r>
            <a:r>
              <a:rPr lang="es-ES" sz="1600" dirty="0" err="1"/>
              <a:t>Dog</a:t>
            </a:r>
            <a:r>
              <a:rPr lang="es-ES" sz="1600" dirty="0"/>
              <a:t>) </a:t>
            </a:r>
            <a:r>
              <a:rPr lang="es-ES" sz="1600" dirty="0">
                <a:solidFill>
                  <a:srgbClr val="FF0000"/>
                </a:solidFill>
              </a:rPr>
              <a:t>X</a:t>
            </a:r>
          </a:p>
          <a:p>
            <a:pPr marL="342900" indent="-342900">
              <a:lnSpc>
                <a:spcPct val="115000"/>
              </a:lnSpc>
              <a:spcAft>
                <a:spcPts val="800"/>
              </a:spcAft>
              <a:buSzPts val="1000"/>
              <a:buFont typeface="Courier New" panose="02070309020205020404" pitchFamily="49" charset="0"/>
              <a:buChar char="o"/>
              <a:tabLst>
                <a:tab pos="457200" algn="l"/>
              </a:tabLst>
            </a:pPr>
            <a:endParaRPr lang="es-ES" sz="1600" dirty="0">
              <a:solidFill>
                <a:srgbClr val="FF0000"/>
              </a:solidFill>
            </a:endParaRPr>
          </a:p>
          <a:p>
            <a:pPr marL="342900" indent="-342900">
              <a:lnSpc>
                <a:spcPct val="115000"/>
              </a:lnSpc>
              <a:spcAft>
                <a:spcPts val="800"/>
              </a:spcAft>
              <a:buSzPts val="1000"/>
              <a:buFont typeface="Symbol" panose="05050102010706020507" pitchFamily="18" charset="2"/>
              <a:buChar char=""/>
              <a:tabLst>
                <a:tab pos="457200" algn="l"/>
              </a:tabLst>
            </a:pPr>
            <a:r>
              <a:rPr lang="es-ES" sz="1600" dirty="0"/>
              <a:t>Reduce el código repetido: Sin polimorfismo, necesitaríamos escribir código específico para cada tipo</a:t>
            </a:r>
            <a:endParaRPr lang="es-ES" sz="1600" dirty="0">
              <a:solidFill>
                <a:srgbClr val="FF0000"/>
              </a:solidFill>
            </a:endParaRP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601363"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210197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1276116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Abstracción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18" y="1449802"/>
            <a:ext cx="7463097"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La </a:t>
            </a:r>
            <a:r>
              <a:rPr lang="es-ES" sz="1600" b="1" dirty="0"/>
              <a:t>abstracción</a:t>
            </a:r>
            <a:r>
              <a:rPr lang="es-ES" sz="1600" dirty="0"/>
              <a:t> consiste en </a:t>
            </a:r>
            <a:r>
              <a:rPr lang="es-ES" sz="1600" b="1" dirty="0"/>
              <a:t>ocultar los detalles internos</a:t>
            </a:r>
            <a:r>
              <a:rPr lang="es-ES" sz="1600" dirty="0"/>
              <a:t> de cómo funciona algo y mostrar </a:t>
            </a:r>
            <a:r>
              <a:rPr lang="es-ES" sz="1600" b="1" dirty="0"/>
              <a:t>solo lo esencial</a:t>
            </a:r>
            <a:r>
              <a:rPr lang="es-ES" sz="1600" dirty="0"/>
              <a:t> para usarlo.</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Usamos </a:t>
            </a:r>
            <a:r>
              <a:rPr lang="es-ES" sz="1600" b="1" dirty="0"/>
              <a:t>clases abstractas</a:t>
            </a:r>
            <a:r>
              <a:rPr lang="es-ES" sz="1600" dirty="0"/>
              <a:t> o </a:t>
            </a:r>
            <a:r>
              <a:rPr lang="es-ES" sz="1600" b="1" dirty="0"/>
              <a:t>interfaces</a:t>
            </a:r>
            <a:r>
              <a:rPr lang="es-ES" sz="1600" dirty="0"/>
              <a:t> para definir comportamientos generales.</a:t>
            </a:r>
            <a:endParaRPr lang="es-ES" sz="1600" dirty="0">
              <a:solidFill>
                <a:srgbClr val="FF0000"/>
              </a:solidFill>
            </a:endParaRPr>
          </a:p>
          <a:p>
            <a:pPr marL="342900" indent="-342900">
              <a:lnSpc>
                <a:spcPct val="115000"/>
              </a:lnSpc>
              <a:spcAft>
                <a:spcPts val="800"/>
              </a:spcAft>
              <a:buSzPts val="1000"/>
              <a:buFont typeface="Courier New" panose="02070309020205020404" pitchFamily="49" charset="0"/>
              <a:buChar char="o"/>
              <a:tabLst>
                <a:tab pos="457200" algn="l"/>
              </a:tabLst>
            </a:pPr>
            <a:endParaRPr lang="es-ES" sz="1600" dirty="0">
              <a:solidFill>
                <a:srgbClr val="FF0000"/>
              </a:solidFill>
            </a:endParaRPr>
          </a:p>
          <a:p>
            <a:pPr marL="342900" indent="-342900">
              <a:lnSpc>
                <a:spcPct val="115000"/>
              </a:lnSpc>
              <a:spcAft>
                <a:spcPts val="800"/>
              </a:spcAft>
              <a:buSzPts val="1000"/>
              <a:buFont typeface="Symbol" panose="05050102010706020507" pitchFamily="18" charset="2"/>
              <a:buChar char=""/>
              <a:tabLst>
                <a:tab pos="457200" algn="l"/>
              </a:tabLst>
            </a:pPr>
            <a:r>
              <a:rPr lang="es-ES" sz="1600" dirty="0"/>
              <a:t>Las </a:t>
            </a:r>
            <a:r>
              <a:rPr lang="es-ES" sz="1600" b="1" dirty="0"/>
              <a:t>subclases</a:t>
            </a:r>
            <a:r>
              <a:rPr lang="es-ES" sz="1600" dirty="0"/>
              <a:t> deben implementar los detalles concretos.</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601363"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4102968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4084035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368919" y="830650"/>
            <a:ext cx="65897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Composición </a:t>
            </a:r>
            <a:r>
              <a:rPr lang="en" dirty="0">
                <a:solidFill>
                  <a:schemeClr val="accent3"/>
                </a:solidFill>
              </a:rPr>
              <a:t>{</a:t>
            </a:r>
            <a:endParaRPr dirty="0">
              <a:solidFill>
                <a:schemeClr val="accent3"/>
              </a:solidFill>
            </a:endParaRPr>
          </a:p>
        </p:txBody>
      </p:sp>
      <p:sp>
        <p:nvSpPr>
          <p:cNvPr id="253" name="Google Shape;253;p18"/>
          <p:cNvSpPr txBox="1">
            <a:spLocks noGrp="1"/>
          </p:cNvSpPr>
          <p:nvPr>
            <p:ph type="subTitle" idx="1"/>
          </p:nvPr>
        </p:nvSpPr>
        <p:spPr>
          <a:xfrm>
            <a:off x="1368918" y="1449802"/>
            <a:ext cx="7463097" cy="3021412"/>
          </a:xfrm>
          <a:prstGeom prst="rect">
            <a:avLst/>
          </a:prstGeom>
        </p:spPr>
        <p:txBody>
          <a:bodyPr spcFirstLastPara="1" wrap="square" lIns="91425" tIns="91425" rIns="91425" bIns="91425" anchor="t" anchorCtr="0">
            <a:noAutofit/>
          </a:bodyPr>
          <a:lstStyle/>
          <a:p>
            <a:pPr marL="342900" indent="-342900">
              <a:lnSpc>
                <a:spcPct val="115000"/>
              </a:lnSpc>
              <a:spcAft>
                <a:spcPts val="800"/>
              </a:spcAft>
              <a:buSzPts val="1000"/>
              <a:buFont typeface="Symbol" panose="05050102010706020507" pitchFamily="18" charset="2"/>
              <a:buChar char=""/>
              <a:tabLst>
                <a:tab pos="457200" algn="l"/>
              </a:tabLst>
            </a:pPr>
            <a:r>
              <a:rPr lang="es-ES" sz="1600" dirty="0"/>
              <a:t>Relación entre clases donde una </a:t>
            </a:r>
            <a:r>
              <a:rPr lang="es-ES" sz="1600" b="1" dirty="0"/>
              <a:t>forma parte</a:t>
            </a:r>
            <a:r>
              <a:rPr lang="es-ES" sz="1600" dirty="0"/>
              <a:t> de otra.</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conoce como relación </a:t>
            </a:r>
            <a:r>
              <a:rPr lang="es-ES" sz="1600" b="1" dirty="0"/>
              <a:t>“tiene-un”</a:t>
            </a:r>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solidFill>
                <a:srgbClr val="FF0000"/>
              </a:solidFill>
            </a:endParaRPr>
          </a:p>
          <a:p>
            <a:pPr marL="342900" indent="-342900">
              <a:lnSpc>
                <a:spcPct val="115000"/>
              </a:lnSpc>
              <a:spcAft>
                <a:spcPts val="800"/>
              </a:spcAft>
              <a:buSzPts val="1000"/>
              <a:buFont typeface="Symbol" panose="05050102010706020507" pitchFamily="18" charset="2"/>
              <a:buChar char=""/>
              <a:tabLst>
                <a:tab pos="457200" algn="l"/>
              </a:tabLst>
            </a:pPr>
            <a:r>
              <a:rPr lang="es-ES" sz="1600" dirty="0"/>
              <a:t>Se usa para construir objetos complejos combinando otros más simples.</a:t>
            </a:r>
          </a:p>
          <a:p>
            <a:pPr marL="342900" indent="-342900">
              <a:lnSpc>
                <a:spcPct val="115000"/>
              </a:lnSpc>
              <a:spcAft>
                <a:spcPts val="800"/>
              </a:spcAft>
              <a:buSzPts val="1000"/>
              <a:buFont typeface="Symbol" panose="05050102010706020507" pitchFamily="18" charset="2"/>
              <a:buChar char=""/>
              <a:tabLst>
                <a:tab pos="457200" algn="l"/>
              </a:tabLst>
            </a:pPr>
            <a:endParaRPr lang="es-ES" sz="1600" u="sng"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a:p>
            <a:pPr marL="342900" indent="-342900">
              <a:lnSpc>
                <a:spcPct val="115000"/>
              </a:lnSpc>
              <a:spcAft>
                <a:spcPts val="800"/>
              </a:spcAft>
              <a:buSzPts val="1000"/>
              <a:buFont typeface="Symbol" panose="05050102010706020507" pitchFamily="18" charset="2"/>
              <a:buChar char=""/>
              <a:tabLst>
                <a:tab pos="457200" algn="l"/>
              </a:tabLst>
            </a:pPr>
            <a:endParaRPr lang="es-ES" sz="1600" dirty="0"/>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601363" y="1194925"/>
            <a:ext cx="841742" cy="3678450"/>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spTree>
    <p:extLst>
      <p:ext uri="{BB962C8B-B14F-4D97-AF65-F5344CB8AC3E}">
        <p14:creationId xmlns:p14="http://schemas.microsoft.com/office/powerpoint/2010/main" val="3616469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3596457" y="2365338"/>
            <a:ext cx="6139568"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PRÁCTICA</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s-ES" sz="1400" dirty="0">
                <a:solidFill>
                  <a:schemeClr val="accent3"/>
                </a:solidFill>
              </a:rPr>
              <a:t>.java</a:t>
            </a: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spTree>
    <p:extLst>
      <p:ext uri="{BB962C8B-B14F-4D97-AF65-F5344CB8AC3E}">
        <p14:creationId xmlns:p14="http://schemas.microsoft.com/office/powerpoint/2010/main" val="1649832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8"/>
          <p:cNvSpPr txBox="1">
            <a:spLocks noGrp="1"/>
          </p:cNvSpPr>
          <p:nvPr>
            <p:ph type="ctrTitle"/>
          </p:nvPr>
        </p:nvSpPr>
        <p:spPr>
          <a:xfrm>
            <a:off x="1212803" y="688004"/>
            <a:ext cx="6362591"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Quiz </a:t>
            </a:r>
            <a:r>
              <a:rPr lang="en" dirty="0">
                <a:solidFill>
                  <a:schemeClr val="accent3"/>
                </a:solidFill>
              </a:rPr>
              <a:t>{</a:t>
            </a:r>
            <a:endParaRPr dirty="0">
              <a:solidFill>
                <a:schemeClr val="accent3"/>
              </a:solidFill>
            </a:endParaRPr>
          </a:p>
        </p:txBody>
      </p:sp>
      <p:sp>
        <p:nvSpPr>
          <p:cNvPr id="254" name="Google Shape;254;p18"/>
          <p:cNvSpPr txBox="1">
            <a:spLocks noGrp="1"/>
          </p:cNvSpPr>
          <p:nvPr>
            <p:ph type="subTitle" idx="1"/>
          </p:nvPr>
        </p:nvSpPr>
        <p:spPr>
          <a:xfrm>
            <a:off x="289932" y="4694725"/>
            <a:ext cx="5285293" cy="3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solidFill>
                  <a:schemeClr val="accent1"/>
                </a:solidFill>
              </a:rPr>
              <a:t>Introducción a la programación en java</a:t>
            </a:r>
            <a:endParaRPr sz="1400" dirty="0">
              <a:solidFill>
                <a:schemeClr val="accent1"/>
              </a:solidFill>
            </a:endParaRPr>
          </a:p>
        </p:txBody>
      </p:sp>
      <p:sp>
        <p:nvSpPr>
          <p:cNvPr id="256" name="Google Shape;256;p18"/>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Módulo8</a:t>
            </a:r>
            <a:r>
              <a:rPr lang="en" sz="1400" dirty="0">
                <a:solidFill>
                  <a:schemeClr val="accent3"/>
                </a:solidFill>
              </a:rPr>
              <a:t>.java</a:t>
            </a:r>
            <a:endParaRPr sz="1400" dirty="0">
              <a:solidFill>
                <a:schemeClr val="accent3"/>
              </a:solidFill>
            </a:endParaRPr>
          </a:p>
        </p:txBody>
      </p:sp>
      <p:sp>
        <p:nvSpPr>
          <p:cNvPr id="257" name="Google Shape;257;p18"/>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solidFill>
                  <a:schemeClr val="accent3"/>
                </a:solidFill>
              </a:rPr>
              <a:t>POO.css</a:t>
            </a:r>
            <a:endParaRPr sz="1400" dirty="0">
              <a:solidFill>
                <a:schemeClr val="accent3"/>
              </a:solidFill>
            </a:endParaRPr>
          </a:p>
        </p:txBody>
      </p:sp>
      <p:grpSp>
        <p:nvGrpSpPr>
          <p:cNvPr id="260" name="Google Shape;260;p18"/>
          <p:cNvGrpSpPr/>
          <p:nvPr/>
        </p:nvGrpSpPr>
        <p:grpSpPr>
          <a:xfrm>
            <a:off x="8641787" y="1916700"/>
            <a:ext cx="506100" cy="2956675"/>
            <a:chOff x="1413525" y="1247575"/>
            <a:chExt cx="506100" cy="2956675"/>
          </a:xfrm>
        </p:grpSpPr>
        <p:cxnSp>
          <p:nvCxnSpPr>
            <p:cNvPr id="261" name="Google Shape;261;p18"/>
            <p:cNvCxnSpPr/>
            <p:nvPr/>
          </p:nvCxnSpPr>
          <p:spPr>
            <a:xfrm>
              <a:off x="1552213" y="1247575"/>
              <a:ext cx="0" cy="2275800"/>
            </a:xfrm>
            <a:prstGeom prst="straightConnector1">
              <a:avLst/>
            </a:prstGeom>
            <a:noFill/>
            <a:ln w="9525" cap="flat" cmpd="sng">
              <a:solidFill>
                <a:schemeClr val="accent4"/>
              </a:solidFill>
              <a:prstDash val="solid"/>
              <a:round/>
              <a:headEnd type="none" w="med" len="med"/>
              <a:tailEnd type="none" w="med" len="med"/>
            </a:ln>
          </p:spPr>
        </p:cxnSp>
        <p:sp>
          <p:nvSpPr>
            <p:cNvPr id="262" name="Google Shape;262;p18"/>
            <p:cNvSpPr txBox="1"/>
            <p:nvPr/>
          </p:nvSpPr>
          <p:spPr>
            <a:xfrm>
              <a:off x="1413525" y="3557750"/>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dirty="0">
                  <a:solidFill>
                    <a:schemeClr val="accent3"/>
                  </a:solidFill>
                  <a:latin typeface="Fira Code"/>
                  <a:ea typeface="Fira Code"/>
                  <a:cs typeface="Fira Code"/>
                  <a:sym typeface="Fira Code"/>
                </a:rPr>
                <a:t>}</a:t>
              </a:r>
              <a:endParaRPr sz="3000" dirty="0">
                <a:solidFill>
                  <a:schemeClr val="accent3"/>
                </a:solidFill>
                <a:latin typeface="Fira Code"/>
                <a:ea typeface="Fira Code"/>
                <a:cs typeface="Fira Code"/>
                <a:sym typeface="Fira Code"/>
              </a:endParaRPr>
            </a:p>
          </p:txBody>
        </p:sp>
      </p:grpSp>
      <p:pic>
        <p:nvPicPr>
          <p:cNvPr id="1026" name="Picture 2" descr="Imágenes de Quiz - Descarga gratuita en Freepik">
            <a:extLst>
              <a:ext uri="{FF2B5EF4-FFF2-40B4-BE49-F238E27FC236}">
                <a16:creationId xmlns:a16="http://schemas.microsoft.com/office/drawing/2014/main" id="{5ACABE33-0C5E-8520-0B1D-DD3565ED0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188" y="1828083"/>
            <a:ext cx="4657593" cy="1892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355231"/>
      </p:ext>
    </p:extLst>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871</TotalTime>
  <Words>1074</Words>
  <Application>Microsoft Office PowerPoint</Application>
  <PresentationFormat>Presentación en pantalla (16:9)</PresentationFormat>
  <Paragraphs>180</Paragraphs>
  <Slides>21</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Wingdings</vt:lpstr>
      <vt:lpstr>Fira Code</vt:lpstr>
      <vt:lpstr>Symbol</vt:lpstr>
      <vt:lpstr>Courier New</vt:lpstr>
      <vt:lpstr>Arial</vt:lpstr>
      <vt:lpstr>Programming Language Workshop for Beginners by Slidesgo</vt:lpstr>
      <vt:lpstr>Programación orientada a objetos</vt:lpstr>
      <vt:lpstr>¿Qué aprenderemos? {</vt:lpstr>
      <vt:lpstr>¿Qué es la POO? {</vt:lpstr>
      <vt:lpstr>¿Qué es una clase? {</vt:lpstr>
      <vt:lpstr>¿Qué es un objeto? {</vt:lpstr>
      <vt:lpstr>¿Qué es un constructor? {</vt:lpstr>
      <vt:lpstr>Buenas prácticas {</vt:lpstr>
      <vt:lpstr>PRÁCTICA</vt:lpstr>
      <vt:lpstr>Modificadores de acceso {</vt:lpstr>
      <vt:lpstr>Modificadores de acceso {</vt:lpstr>
      <vt:lpstr>PRÁCTICA</vt:lpstr>
      <vt:lpstr>Herencia {</vt:lpstr>
      <vt:lpstr>PRÁCTICA</vt:lpstr>
      <vt:lpstr>Polimorfismo {</vt:lpstr>
      <vt:lpstr>Polimorfismo {</vt:lpstr>
      <vt:lpstr>PRÁCTICA</vt:lpstr>
      <vt:lpstr>Abstracción {</vt:lpstr>
      <vt:lpstr>PRÁCTICA</vt:lpstr>
      <vt:lpstr>Composición {</vt:lpstr>
      <vt:lpstr>PRÁCTICA</vt:lpstr>
      <vt:lpstr>Quiz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Josu Motoso</dc:creator>
  <cp:lastModifiedBy>Josu Motoso</cp:lastModifiedBy>
  <cp:revision>42</cp:revision>
  <dcterms:modified xsi:type="dcterms:W3CDTF">2025-12-07T08:44:12Z</dcterms:modified>
</cp:coreProperties>
</file>