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13"/>
  </p:notesMasterIdLst>
  <p:sldIdLst>
    <p:sldId id="307" r:id="rId2"/>
    <p:sldId id="256" r:id="rId3"/>
    <p:sldId id="321" r:id="rId4"/>
    <p:sldId id="322" r:id="rId5"/>
    <p:sldId id="323" r:id="rId6"/>
    <p:sldId id="325" r:id="rId7"/>
    <p:sldId id="324" r:id="rId8"/>
    <p:sldId id="313" r:id="rId9"/>
    <p:sldId id="326" r:id="rId10"/>
    <p:sldId id="312" r:id="rId11"/>
    <p:sldId id="311" r:id="rId12"/>
  </p:sldIdLst>
  <p:sldSz cx="9144000" cy="5143500" type="screen16x9"/>
  <p:notesSz cx="6858000" cy="9144000"/>
  <p:embeddedFontLst>
    <p:embeddedFont>
      <p:font typeface="Candara" panose="020E0502030303020204" pitchFamily="34" charset="0"/>
      <p:regular r:id="rId14"/>
      <p:bold r:id="rId15"/>
      <p:italic r:id="rId16"/>
      <p:boldItalic r:id="rId17"/>
    </p:embeddedFont>
    <p:embeddedFont>
      <p:font typeface="Fira Code" panose="020B0809050000020004" pitchFamily="49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8AD038-0CC6-4834-A986-352E8F01496E}">
  <a:tblStyle styleId="{478AD038-0CC6-4834-A986-352E8F0149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65098" autoAdjust="0"/>
  </p:normalViewPr>
  <p:slideViewPr>
    <p:cSldViewPr snapToGrid="0">
      <p:cViewPr varScale="1">
        <p:scale>
          <a:sx n="71" d="100"/>
          <a:sy n="71" d="100"/>
        </p:scale>
        <p:origin x="1786" y="48"/>
      </p:cViewPr>
      <p:guideLst/>
    </p:cSldViewPr>
  </p:slideViewPr>
  <p:outlineViewPr>
    <p:cViewPr>
      <p:scale>
        <a:sx n="33" d="100"/>
        <a:sy n="33" d="100"/>
      </p:scale>
      <p:origin x="0" y="-4829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4649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9452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229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2902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0714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44603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0885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01486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u="sng" dirty="0"/>
          </a:p>
        </p:txBody>
      </p:sp>
    </p:spTree>
    <p:extLst>
      <p:ext uri="{BB962C8B-B14F-4D97-AF65-F5344CB8AC3E}">
        <p14:creationId xmlns:p14="http://schemas.microsoft.com/office/powerpoint/2010/main" val="26865292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00782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19313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413525" y="3317438"/>
            <a:ext cx="3158400" cy="7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413525" y="1736863"/>
            <a:ext cx="56823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0" y="455070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subTitle" idx="3"/>
          </p:nvPr>
        </p:nvSpPr>
        <p:spPr>
          <a:xfrm>
            <a:off x="1413525" y="2325113"/>
            <a:ext cx="56823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"/>
          <p:cNvSpPr txBox="1">
            <a:spLocks noGrp="1"/>
          </p:cNvSpPr>
          <p:nvPr>
            <p:ph type="subTitle" idx="1"/>
          </p:nvPr>
        </p:nvSpPr>
        <p:spPr>
          <a:xfrm>
            <a:off x="1674500" y="2736550"/>
            <a:ext cx="3627600" cy="10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7"/>
          <p:cNvSpPr txBox="1">
            <a:spLocks noGrp="1"/>
          </p:cNvSpPr>
          <p:nvPr>
            <p:ph type="title"/>
          </p:nvPr>
        </p:nvSpPr>
        <p:spPr>
          <a:xfrm>
            <a:off x="1154275" y="1137700"/>
            <a:ext cx="3969900" cy="142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3" name="Google Shape;153;p9"/>
          <p:cNvSpPr txBox="1">
            <a:spLocks noGrp="1"/>
          </p:cNvSpPr>
          <p:nvPr>
            <p:ph type="subTitle" idx="1"/>
          </p:nvPr>
        </p:nvSpPr>
        <p:spPr>
          <a:xfrm>
            <a:off x="1593350" y="1574450"/>
            <a:ext cx="5539200" cy="14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4" name="Google Shape;154;p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1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1"/>
          <p:cNvSpPr txBox="1">
            <a:spLocks noGrp="1"/>
          </p:cNvSpPr>
          <p:nvPr>
            <p:ph type="title" hasCustomPrompt="1"/>
          </p:nvPr>
        </p:nvSpPr>
        <p:spPr>
          <a:xfrm>
            <a:off x="1084225" y="1311425"/>
            <a:ext cx="6379200" cy="10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4" name="Google Shape;174;p11"/>
          <p:cNvSpPr txBox="1">
            <a:spLocks noGrp="1"/>
          </p:cNvSpPr>
          <p:nvPr>
            <p:ph type="body" idx="1"/>
          </p:nvPr>
        </p:nvSpPr>
        <p:spPr>
          <a:xfrm>
            <a:off x="1554225" y="2486925"/>
            <a:ext cx="6689100" cy="52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>
                <a:solidFill>
                  <a:schemeClr val="accent3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5" name="Google Shape;175;p11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8" name="Google Shape;188;p11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4" name="Google Shape;214;p1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5" name="Google Shape;215;p1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1" name="Google Shape;231;p1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2" name="Google Shape;232;p1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3" name="Google Shape;233;p1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4" name="Google Shape;234;p1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8" name="Google Shape;238;p1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9" name="Google Shape;239;p1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2" name="Google Shape;242;p1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60" r:id="rId8"/>
    <p:sldLayoutId id="2147483661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54;p18">
            <a:extLst>
              <a:ext uri="{FF2B5EF4-FFF2-40B4-BE49-F238E27FC236}">
                <a16:creationId xmlns:a16="http://schemas.microsoft.com/office/drawing/2014/main" id="{BD11792E-DB1B-6B29-E401-4A576AC3E3BC}"/>
              </a:ext>
            </a:extLst>
          </p:cNvPr>
          <p:cNvSpPr txBox="1">
            <a:spLocks/>
          </p:cNvSpPr>
          <p:nvPr/>
        </p:nvSpPr>
        <p:spPr>
          <a:xfrm>
            <a:off x="127094" y="4679064"/>
            <a:ext cx="5285293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s-ES" sz="1400">
                <a:solidFill>
                  <a:schemeClr val="accent1"/>
                </a:solidFill>
              </a:rPr>
              <a:t>Introducción a la programación en java</a:t>
            </a:r>
            <a:endParaRPr lang="es-ES" sz="1400" dirty="0">
              <a:solidFill>
                <a:schemeClr val="accent1"/>
              </a:solidFill>
            </a:endParaRPr>
          </a:p>
        </p:txBody>
      </p:sp>
      <p:pic>
        <p:nvPicPr>
          <p:cNvPr id="1026" name="Picture 2" descr="Technology Code GIF by The Coding Space RD">
            <a:extLst>
              <a:ext uri="{FF2B5EF4-FFF2-40B4-BE49-F238E27FC236}">
                <a16:creationId xmlns:a16="http://schemas.microsoft.com/office/drawing/2014/main" id="{684DF84A-72D3-DC15-CC8D-65294DF11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784" y="864948"/>
            <a:ext cx="3413603" cy="3413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252;p18">
            <a:extLst>
              <a:ext uri="{FF2B5EF4-FFF2-40B4-BE49-F238E27FC236}">
                <a16:creationId xmlns:a16="http://schemas.microsoft.com/office/drawing/2014/main" id="{7B990F70-D7D8-215E-515D-C983149AB3F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771452" y="1580445"/>
            <a:ext cx="3135481" cy="16820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BUCLES</a:t>
            </a:r>
            <a:endParaRPr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844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¿Qué aprenderemos?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00438" y="1539062"/>
            <a:ext cx="7181159" cy="27737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/>
              <a:t>Un </a:t>
            </a:r>
            <a:r>
              <a:rPr lang="es-ES" b="1" dirty="0"/>
              <a:t>bucle</a:t>
            </a:r>
            <a:r>
              <a:rPr lang="es-ES" dirty="0"/>
              <a:t> es una estructura que permite </a:t>
            </a:r>
            <a:r>
              <a:rPr lang="es-ES" b="1" dirty="0"/>
              <a:t>repetir</a:t>
            </a:r>
            <a:r>
              <a:rPr lang="es-ES" dirty="0"/>
              <a:t> un conjunto de instrucciones </a:t>
            </a:r>
            <a:r>
              <a:rPr lang="es-ES" b="1" dirty="0"/>
              <a:t>varias veces</a:t>
            </a:r>
            <a:r>
              <a:rPr lang="es-ES" dirty="0"/>
              <a:t>, mientras se cumpla una condición</a:t>
            </a:r>
            <a:endParaRPr lang="es-ES" sz="1800" kern="100" dirty="0">
              <a:effectLst/>
              <a:latin typeface="Candara" panose="020E0502030303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endParaRPr lang="es-ES" dirty="0"/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Módulo6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66025" y="102951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Bucles.css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481612" y="1539062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1026" name="Picture 2" descr="Black And White Woman GIF by National WWI Museum and Memorial">
            <a:extLst>
              <a:ext uri="{FF2B5EF4-FFF2-40B4-BE49-F238E27FC236}">
                <a16:creationId xmlns:a16="http://schemas.microsoft.com/office/drawing/2014/main" id="{07128CDF-53DD-E562-F50F-6FE24377B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740" y="2850057"/>
            <a:ext cx="2538959" cy="1929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accent2"/>
                </a:solidFill>
              </a:rPr>
              <a:t>w</a:t>
            </a:r>
            <a:r>
              <a:rPr lang="en" dirty="0">
                <a:solidFill>
                  <a:schemeClr val="accent2"/>
                </a:solidFill>
              </a:rPr>
              <a:t>hile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00438" y="1539062"/>
            <a:ext cx="7181159" cy="27737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/>
              <a:t>Repite mientras la condición sea </a:t>
            </a:r>
            <a:r>
              <a:rPr lang="es-ES" b="1" dirty="0"/>
              <a:t>verdadera</a:t>
            </a:r>
            <a:r>
              <a:rPr lang="es-ES" dirty="0"/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ES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ES" dirty="0"/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Módulo6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66025" y="102951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Bucles.css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481612" y="1539062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28DA1F34-A4A4-7A7E-B585-576275317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314" y="2238763"/>
            <a:ext cx="2397903" cy="12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31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do-while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00438" y="1539062"/>
            <a:ext cx="7181159" cy="27737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/>
              <a:t>Se ejecuta </a:t>
            </a:r>
            <a:r>
              <a:rPr lang="es-ES" b="1" dirty="0"/>
              <a:t>al menos una vez</a:t>
            </a:r>
            <a:r>
              <a:rPr lang="es-ES" dirty="0"/>
              <a:t>, </a:t>
            </a:r>
            <a:r>
              <a:rPr lang="es-ES" i="1" dirty="0"/>
              <a:t>aunque la condición sea falsa al inicio</a:t>
            </a:r>
            <a:r>
              <a:rPr lang="es-ES" dirty="0"/>
              <a:t>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/>
              <a:t>La condición se evalúa </a:t>
            </a:r>
            <a:r>
              <a:rPr lang="es-ES" b="1" dirty="0"/>
              <a:t>al final</a:t>
            </a:r>
            <a:r>
              <a:rPr lang="es-ES" dirty="0"/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endParaRPr lang="es-ES" dirty="0"/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endParaRPr lang="es-ES" dirty="0"/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Módulo6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66025" y="102951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Bucles.css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481612" y="1539062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E8A43C85-E19F-669B-4A36-81855ADBD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3065" y="2897816"/>
            <a:ext cx="2645920" cy="141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863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>
                <a:solidFill>
                  <a:schemeClr val="accent2"/>
                </a:solidFill>
              </a:rPr>
              <a:t>for</a:t>
            </a:r>
            <a:r>
              <a:rPr lang="en" dirty="0">
                <a:solidFill>
                  <a:schemeClr val="accent2"/>
                </a:solidFill>
              </a:rPr>
              <a:t>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00438" y="1539062"/>
            <a:ext cx="7181159" cy="27737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/>
              <a:t>Se usa cuando sabemos </a:t>
            </a:r>
            <a:r>
              <a:rPr lang="es-ES" b="1" dirty="0"/>
              <a:t>cuántas veces</a:t>
            </a:r>
            <a:r>
              <a:rPr lang="es-ES" dirty="0"/>
              <a:t> queremos repetir algo.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endParaRPr lang="es-ES" dirty="0"/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Módulo6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66025" y="102951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Bucles.css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481612" y="1539062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168822B8-DF33-6A40-660C-882197D6C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578" y="2676962"/>
            <a:ext cx="3626089" cy="102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73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accent2"/>
                </a:solidFill>
              </a:rPr>
              <a:t>f</a:t>
            </a:r>
            <a:r>
              <a:rPr lang="en" dirty="0">
                <a:solidFill>
                  <a:schemeClr val="accent2"/>
                </a:solidFill>
              </a:rPr>
              <a:t>or-each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00438" y="1539062"/>
            <a:ext cx="7181159" cy="27737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/>
              <a:t>Se usa para </a:t>
            </a:r>
            <a:r>
              <a:rPr lang="es-ES" b="1" dirty="0"/>
              <a:t>recorrer</a:t>
            </a:r>
            <a:r>
              <a:rPr lang="es-ES" dirty="0"/>
              <a:t> listas, </a:t>
            </a:r>
            <a:r>
              <a:rPr lang="es-ES" dirty="0" err="1"/>
              <a:t>arrays</a:t>
            </a:r>
            <a:r>
              <a:rPr lang="es-ES" dirty="0"/>
              <a:t> y colecciones </a:t>
            </a:r>
            <a:r>
              <a:rPr lang="es-ES" b="1" dirty="0"/>
              <a:t>sin usar índices</a:t>
            </a:r>
            <a:r>
              <a:rPr lang="es-ES" dirty="0"/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endParaRPr lang="es-ES" dirty="0"/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Módulo6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66025" y="102951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Bucles.css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481612" y="1539062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1CA8E262-D597-387F-FB7E-0426B6D37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319" y="2730246"/>
            <a:ext cx="4695335" cy="136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146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break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00438" y="1539062"/>
            <a:ext cx="7181159" cy="27737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/>
              <a:t>break → sale del bucle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ES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ES" dirty="0"/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endParaRPr lang="es-ES" dirty="0"/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Módulo6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66025" y="102951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Bucles.css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7807542" y="1539062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3F4E3558-EF2C-CA02-D8E2-9E0D47A66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589" y="2283598"/>
            <a:ext cx="3708513" cy="134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536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93843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continue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68919" y="1512814"/>
            <a:ext cx="7031645" cy="2964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continue → salta a la siguiente iteración</a:t>
            </a: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Módulo6</a:t>
            </a:r>
            <a:r>
              <a:rPr lang="es-ES" sz="1400" dirty="0">
                <a:solidFill>
                  <a:schemeClr val="accent3"/>
                </a:solidFill>
              </a:rPr>
              <a:t>.java</a:t>
            </a: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Bucles.css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400571" y="152084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82D73610-42A8-9CD1-4D0D-61FA6DA82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195" y="2375757"/>
            <a:ext cx="3757525" cy="132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81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93843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Buenas prácticas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68919" y="1512814"/>
            <a:ext cx="7031645" cy="2964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Elegir el bucle adecuado para cada caso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/>
              <a:t>Usar </a:t>
            </a:r>
            <a:r>
              <a:rPr lang="es-ES" sz="1600" dirty="0" err="1"/>
              <a:t>for-each</a:t>
            </a:r>
            <a:r>
              <a:rPr lang="es-ES" sz="1600" dirty="0"/>
              <a:t> en vez de </a:t>
            </a:r>
            <a:r>
              <a:rPr lang="es-ES" sz="1600" dirty="0" err="1"/>
              <a:t>for</a:t>
            </a:r>
            <a:r>
              <a:rPr lang="es-ES" sz="1600" dirty="0"/>
              <a:t> cuando no se necesite el índice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Evitar condici</a:t>
            </a:r>
            <a:r>
              <a:rPr lang="es-ES" sz="1600" dirty="0"/>
              <a:t>ones que puedan causar bucles infinitos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Cuerpo del bucle </a:t>
            </a:r>
            <a:r>
              <a:rPr lang="es-ES" sz="1600" dirty="0"/>
              <a:t>breve y limpio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Evita</a:t>
            </a:r>
            <a:r>
              <a:rPr lang="es-ES" sz="1600" dirty="0"/>
              <a:t>r modificar la colección mientras recorres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Módulo6</a:t>
            </a:r>
            <a:r>
              <a:rPr lang="es-ES" sz="1400" dirty="0">
                <a:solidFill>
                  <a:schemeClr val="accent3"/>
                </a:solidFill>
              </a:rPr>
              <a:t>.java</a:t>
            </a: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Bucles.css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400571" y="152084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5198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3596457" y="2365338"/>
            <a:ext cx="6139568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PRÁCTICA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Módulo6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Bucles.css</a:t>
            </a:r>
            <a:endParaRPr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832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212803" y="688004"/>
            <a:ext cx="6362591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Quiz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Módulo6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Bucles.css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641787" y="191670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1026" name="Picture 2" descr="Imágenes de Quiz - Descarga gratuita en Freepik">
            <a:extLst>
              <a:ext uri="{FF2B5EF4-FFF2-40B4-BE49-F238E27FC236}">
                <a16:creationId xmlns:a16="http://schemas.microsoft.com/office/drawing/2014/main" id="{5ACABE33-0C5E-8520-0B1D-DD3565ED0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188" y="1828083"/>
            <a:ext cx="4657593" cy="1892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6355231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</TotalTime>
  <Words>283</Words>
  <Application>Microsoft Office PowerPoint</Application>
  <PresentationFormat>Presentación en pantalla (16:9)</PresentationFormat>
  <Paragraphs>65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Symbol</vt:lpstr>
      <vt:lpstr>Candara</vt:lpstr>
      <vt:lpstr>Courier New</vt:lpstr>
      <vt:lpstr>Arial</vt:lpstr>
      <vt:lpstr>Fira Code</vt:lpstr>
      <vt:lpstr>Wingdings</vt:lpstr>
      <vt:lpstr>Programming Language Workshop for Beginners by Slidesgo</vt:lpstr>
      <vt:lpstr>BUCLES</vt:lpstr>
      <vt:lpstr>¿Qué aprenderemos? {</vt:lpstr>
      <vt:lpstr>while {</vt:lpstr>
      <vt:lpstr>do-while {</vt:lpstr>
      <vt:lpstr>for {</vt:lpstr>
      <vt:lpstr>for-each {</vt:lpstr>
      <vt:lpstr>break {</vt:lpstr>
      <vt:lpstr>continue {</vt:lpstr>
      <vt:lpstr>Buenas prácticas {</vt:lpstr>
      <vt:lpstr>PRÁCTICA</vt:lpstr>
      <vt:lpstr>Quiz {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Josu Motoso</dc:creator>
  <cp:lastModifiedBy>Josu Motoso</cp:lastModifiedBy>
  <cp:revision>27</cp:revision>
  <dcterms:modified xsi:type="dcterms:W3CDTF">2025-11-01T10:34:39Z</dcterms:modified>
</cp:coreProperties>
</file>